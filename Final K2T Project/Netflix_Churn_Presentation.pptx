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6" r:id="rId9"/>
    <p:sldId id="263" r:id="rId10"/>
    <p:sldId id="267" r:id="rId11"/>
    <p:sldId id="268" r:id="rId12"/>
    <p:sldId id="269" r:id="rId13"/>
    <p:sldId id="264" r:id="rId14"/>
    <p:sldId id="265" r:id="rId15"/>
  </p:sldIdLst>
  <p:sldSz cx="18288000" cy="10287000"/>
  <p:notesSz cx="6858000" cy="9144000"/>
  <p:embeddedFontLst>
    <p:embeddedFont>
      <p:font typeface="Cascadia Mono" panose="020B0609020000020004" pitchFamily="49" charset="0"/>
      <p:regular r:id="rId17"/>
      <p:bold r:id="rId18"/>
      <p:italic r:id="rId19"/>
      <p:boldItalic r:id="rId20"/>
    </p:embeddedFont>
    <p:embeddedFont>
      <p:font typeface="Elika Gorica" panose="020B0604020202020204" charset="0"/>
      <p:regular r:id="rId21"/>
    </p:embeddedFont>
    <p:embeddedFont>
      <p:font typeface="Etna Sans Serif"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39" d="100"/>
          <a:sy n="39" d="100"/>
        </p:scale>
        <p:origin x="940" y="4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4D3520-0861-49C7-8410-BE76C5941FE6}" type="datetimeFigureOut">
              <a:rPr lang="en-IN" smtClean="0"/>
              <a:t>20-06-2026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3F968B-555C-44B6-B579-98C7AA26F0C9}" type="slidenum">
              <a:rPr lang="en-IN" smtClean="0"/>
              <a:t>‹#›</a:t>
            </a:fld>
            <a:endParaRPr lang="en-IN"/>
          </a:p>
        </p:txBody>
      </p:sp>
    </p:spTree>
    <p:extLst>
      <p:ext uri="{BB962C8B-B14F-4D97-AF65-F5344CB8AC3E}">
        <p14:creationId xmlns:p14="http://schemas.microsoft.com/office/powerpoint/2010/main" val="15843997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E3F968B-555C-44B6-B579-98C7AA26F0C9}" type="slidenum">
              <a:rPr lang="en-IN" smtClean="0"/>
              <a:t>6</a:t>
            </a:fld>
            <a:endParaRPr lang="en-IN"/>
          </a:p>
        </p:txBody>
      </p:sp>
    </p:spTree>
    <p:extLst>
      <p:ext uri="{BB962C8B-B14F-4D97-AF65-F5344CB8AC3E}">
        <p14:creationId xmlns:p14="http://schemas.microsoft.com/office/powerpoint/2010/main" val="10316883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3.sv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3.sv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rot="1607165">
            <a:off x="16411705" y="6395076"/>
            <a:ext cx="2965121" cy="4727004"/>
          </a:xfrm>
          <a:custGeom>
            <a:avLst/>
            <a:gdLst/>
            <a:ahLst/>
            <a:cxnLst/>
            <a:rect l="l" t="t" r="r" b="b"/>
            <a:pathLst>
              <a:path w="2965121" h="4727004">
                <a:moveTo>
                  <a:pt x="0" y="0"/>
                </a:moveTo>
                <a:lnTo>
                  <a:pt x="2965121" y="0"/>
                </a:lnTo>
                <a:lnTo>
                  <a:pt x="2965121" y="4727004"/>
                </a:lnTo>
                <a:lnTo>
                  <a:pt x="0" y="472700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1607165" flipH="1" flipV="1">
            <a:off x="-1103996" y="-788407"/>
            <a:ext cx="2940606" cy="4687923"/>
          </a:xfrm>
          <a:custGeom>
            <a:avLst/>
            <a:gdLst/>
            <a:ahLst/>
            <a:cxnLst/>
            <a:rect l="l" t="t" r="r" b="b"/>
            <a:pathLst>
              <a:path w="2940606" h="4687923">
                <a:moveTo>
                  <a:pt x="2940606" y="4687923"/>
                </a:moveTo>
                <a:lnTo>
                  <a:pt x="0" y="4687923"/>
                </a:lnTo>
                <a:lnTo>
                  <a:pt x="0" y="0"/>
                </a:lnTo>
                <a:lnTo>
                  <a:pt x="2940606" y="0"/>
                </a:lnTo>
                <a:lnTo>
                  <a:pt x="2940606" y="4687923"/>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4589652" y="286290"/>
            <a:ext cx="1650505" cy="1650505"/>
          </a:xfrm>
          <a:custGeom>
            <a:avLst/>
            <a:gdLst/>
            <a:ahLst/>
            <a:cxnLst/>
            <a:rect l="l" t="t" r="r" b="b"/>
            <a:pathLst>
              <a:path w="1650505" h="1650505">
                <a:moveTo>
                  <a:pt x="0" y="0"/>
                </a:moveTo>
                <a:lnTo>
                  <a:pt x="1650505" y="0"/>
                </a:lnTo>
                <a:lnTo>
                  <a:pt x="1650505" y="1650505"/>
                </a:lnTo>
                <a:lnTo>
                  <a:pt x="0" y="1650505"/>
                </a:lnTo>
                <a:lnTo>
                  <a:pt x="0" y="0"/>
                </a:lnTo>
                <a:close/>
              </a:path>
            </a:pathLst>
          </a:custGeom>
          <a:blipFill>
            <a:blip r:embed="rId3"/>
            <a:stretch>
              <a:fillRect/>
            </a:stretch>
          </a:blipFill>
        </p:spPr>
      </p:sp>
      <p:sp>
        <p:nvSpPr>
          <p:cNvPr id="5" name="Freeform 5"/>
          <p:cNvSpPr/>
          <p:nvPr/>
        </p:nvSpPr>
        <p:spPr>
          <a:xfrm rot="2700000">
            <a:off x="7308966" y="-780952"/>
            <a:ext cx="4462723" cy="4462723"/>
          </a:xfrm>
          <a:custGeom>
            <a:avLst/>
            <a:gdLst/>
            <a:ahLst/>
            <a:cxnLst/>
            <a:rect l="l" t="t" r="r" b="b"/>
            <a:pathLst>
              <a:path w="4462723" h="4462723">
                <a:moveTo>
                  <a:pt x="0" y="0"/>
                </a:moveTo>
                <a:lnTo>
                  <a:pt x="4462723" y="0"/>
                </a:lnTo>
                <a:lnTo>
                  <a:pt x="4462723" y="4462723"/>
                </a:lnTo>
                <a:lnTo>
                  <a:pt x="0" y="446272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5484999" y="143415"/>
            <a:ext cx="8110656" cy="1317288"/>
          </a:xfrm>
          <a:prstGeom prst="rect">
            <a:avLst/>
          </a:prstGeom>
        </p:spPr>
        <p:txBody>
          <a:bodyPr lIns="0" tIns="0" rIns="0" bIns="0" rtlCol="0" anchor="t">
            <a:spAutoFit/>
          </a:bodyPr>
          <a:lstStyle/>
          <a:p>
            <a:pPr algn="ctr">
              <a:lnSpc>
                <a:spcPts val="10881"/>
              </a:lnSpc>
              <a:spcBef>
                <a:spcPct val="0"/>
              </a:spcBef>
            </a:pPr>
            <a:r>
              <a:rPr lang="en-US" sz="7772">
                <a:solidFill>
                  <a:srgbClr val="000000"/>
                </a:solidFill>
                <a:latin typeface="Etna Sans Serif"/>
                <a:ea typeface="Etna Sans Serif"/>
                <a:cs typeface="Etna Sans Serif"/>
                <a:sym typeface="Etna Sans Serif"/>
              </a:rPr>
              <a:t>KICK TO TECH</a:t>
            </a:r>
          </a:p>
        </p:txBody>
      </p:sp>
      <p:sp>
        <p:nvSpPr>
          <p:cNvPr id="7" name="TextBox 7"/>
          <p:cNvSpPr txBox="1"/>
          <p:nvPr/>
        </p:nvSpPr>
        <p:spPr>
          <a:xfrm>
            <a:off x="366307" y="9507966"/>
            <a:ext cx="1070142" cy="517530"/>
          </a:xfrm>
          <a:prstGeom prst="rect">
            <a:avLst/>
          </a:prstGeom>
        </p:spPr>
        <p:txBody>
          <a:bodyPr lIns="0" tIns="0" rIns="0" bIns="0" rtlCol="0" anchor="t">
            <a:spAutoFit/>
          </a:bodyPr>
          <a:lstStyle/>
          <a:p>
            <a:pPr algn="ctr">
              <a:lnSpc>
                <a:spcPts val="4177"/>
              </a:lnSpc>
              <a:spcBef>
                <a:spcPct val="0"/>
              </a:spcBef>
            </a:pPr>
            <a:r>
              <a:rPr lang="en-US" sz="2983">
                <a:solidFill>
                  <a:srgbClr val="000000"/>
                </a:solidFill>
                <a:latin typeface="Elika Gorica"/>
                <a:ea typeface="Elika Gorica"/>
                <a:cs typeface="Elika Gorica"/>
                <a:sym typeface="Elika Gorica"/>
              </a:rPr>
              <a:t>Page 1</a:t>
            </a:r>
          </a:p>
        </p:txBody>
      </p:sp>
      <p:sp>
        <p:nvSpPr>
          <p:cNvPr id="8" name="TextBox 7">
            <a:extLst>
              <a:ext uri="{FF2B5EF4-FFF2-40B4-BE49-F238E27FC236}">
                <a16:creationId xmlns:a16="http://schemas.microsoft.com/office/drawing/2014/main" id="{E21A9077-F098-D6BC-5671-F48D41D0BCDE}"/>
              </a:ext>
            </a:extLst>
          </p:cNvPr>
          <p:cNvSpPr txBox="1"/>
          <p:nvPr/>
        </p:nvSpPr>
        <p:spPr>
          <a:xfrm>
            <a:off x="2224376" y="3162300"/>
            <a:ext cx="14006224" cy="5632311"/>
          </a:xfrm>
          <a:prstGeom prst="rect">
            <a:avLst/>
          </a:prstGeom>
          <a:noFill/>
        </p:spPr>
        <p:txBody>
          <a:bodyPr wrap="square" rtlCol="0">
            <a:spAutoFit/>
          </a:bodyPr>
          <a:lstStyle/>
          <a:p>
            <a:pPr algn="ctr"/>
            <a:r>
              <a:rPr lang="en-IN" sz="6000" b="1" dirty="0">
                <a:latin typeface="Cascadia Mono" panose="020B0609020000020004" pitchFamily="49" charset="0"/>
                <a:ea typeface="Cascadia Mono" panose="020B0609020000020004" pitchFamily="49" charset="0"/>
                <a:cs typeface="Cascadia Mono" panose="020B0609020000020004" pitchFamily="49" charset="0"/>
              </a:rPr>
              <a:t>Netflix Subscriber Churn Prediction Using Machine Learning</a:t>
            </a:r>
          </a:p>
          <a:p>
            <a:pPr algn="ctr"/>
            <a:r>
              <a:rPr lang="en-IN" sz="5400" dirty="0"/>
              <a:t>Submitted By:</a:t>
            </a:r>
          </a:p>
          <a:p>
            <a:pPr algn="ctr"/>
            <a:r>
              <a:rPr lang="en-IN" sz="5400" dirty="0"/>
              <a:t>Name: Namrata Morarji Choudhari</a:t>
            </a:r>
          </a:p>
          <a:p>
            <a:pPr algn="ctr"/>
            <a:r>
              <a:rPr lang="en-IN" sz="5400" dirty="0"/>
              <a:t>Student ID: KTT/INT/2026/S193</a:t>
            </a: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E5358-9F96-0086-99A6-A5A074FF874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0A9F4CF-55FE-044F-F7B7-75B70F194E0C}"/>
              </a:ext>
            </a:extLst>
          </p:cNvPr>
          <p:cNvSpPr/>
          <p:nvPr/>
        </p:nvSpPr>
        <p:spPr>
          <a:xfrm rot="1607165">
            <a:off x="16411705" y="6395076"/>
            <a:ext cx="2965121" cy="4727004"/>
          </a:xfrm>
          <a:custGeom>
            <a:avLst/>
            <a:gdLst/>
            <a:ahLst/>
            <a:cxnLst/>
            <a:rect l="l" t="t" r="r" b="b"/>
            <a:pathLst>
              <a:path w="2965121" h="4727004">
                <a:moveTo>
                  <a:pt x="0" y="0"/>
                </a:moveTo>
                <a:lnTo>
                  <a:pt x="2965121" y="0"/>
                </a:lnTo>
                <a:lnTo>
                  <a:pt x="2965121" y="4727004"/>
                </a:lnTo>
                <a:lnTo>
                  <a:pt x="0" y="472700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a:extLst>
              <a:ext uri="{FF2B5EF4-FFF2-40B4-BE49-F238E27FC236}">
                <a16:creationId xmlns:a16="http://schemas.microsoft.com/office/drawing/2014/main" id="{DF5352DF-1B5E-C646-362D-E59EA5C8C89A}"/>
              </a:ext>
            </a:extLst>
          </p:cNvPr>
          <p:cNvSpPr/>
          <p:nvPr/>
        </p:nvSpPr>
        <p:spPr>
          <a:xfrm rot="1607165" flipH="1" flipV="1">
            <a:off x="-1103996" y="-788407"/>
            <a:ext cx="2940606" cy="4687923"/>
          </a:xfrm>
          <a:custGeom>
            <a:avLst/>
            <a:gdLst/>
            <a:ahLst/>
            <a:cxnLst/>
            <a:rect l="l" t="t" r="r" b="b"/>
            <a:pathLst>
              <a:path w="2940606" h="4687923">
                <a:moveTo>
                  <a:pt x="2940606" y="4687923"/>
                </a:moveTo>
                <a:lnTo>
                  <a:pt x="0" y="4687923"/>
                </a:lnTo>
                <a:lnTo>
                  <a:pt x="0" y="0"/>
                </a:lnTo>
                <a:lnTo>
                  <a:pt x="2940606" y="0"/>
                </a:lnTo>
                <a:lnTo>
                  <a:pt x="2940606" y="4687923"/>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a:extLst>
              <a:ext uri="{FF2B5EF4-FFF2-40B4-BE49-F238E27FC236}">
                <a16:creationId xmlns:a16="http://schemas.microsoft.com/office/drawing/2014/main" id="{B62B81B0-9C9E-EBD6-E38E-C37BEE2D78BF}"/>
              </a:ext>
            </a:extLst>
          </p:cNvPr>
          <p:cNvSpPr/>
          <p:nvPr/>
        </p:nvSpPr>
        <p:spPr>
          <a:xfrm>
            <a:off x="4589652" y="286290"/>
            <a:ext cx="1650505" cy="1650505"/>
          </a:xfrm>
          <a:custGeom>
            <a:avLst/>
            <a:gdLst/>
            <a:ahLst/>
            <a:cxnLst/>
            <a:rect l="l" t="t" r="r" b="b"/>
            <a:pathLst>
              <a:path w="1650505" h="1650505">
                <a:moveTo>
                  <a:pt x="0" y="0"/>
                </a:moveTo>
                <a:lnTo>
                  <a:pt x="1650505" y="0"/>
                </a:lnTo>
                <a:lnTo>
                  <a:pt x="1650505" y="1650505"/>
                </a:lnTo>
                <a:lnTo>
                  <a:pt x="0" y="1650505"/>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B734B224-411E-9556-056E-200F698995DC}"/>
              </a:ext>
            </a:extLst>
          </p:cNvPr>
          <p:cNvSpPr/>
          <p:nvPr/>
        </p:nvSpPr>
        <p:spPr>
          <a:xfrm rot="2700000">
            <a:off x="7308966" y="-780952"/>
            <a:ext cx="4462723" cy="4462723"/>
          </a:xfrm>
          <a:custGeom>
            <a:avLst/>
            <a:gdLst/>
            <a:ahLst/>
            <a:cxnLst/>
            <a:rect l="l" t="t" r="r" b="b"/>
            <a:pathLst>
              <a:path w="4462723" h="4462723">
                <a:moveTo>
                  <a:pt x="0" y="0"/>
                </a:moveTo>
                <a:lnTo>
                  <a:pt x="4462723" y="0"/>
                </a:lnTo>
                <a:lnTo>
                  <a:pt x="4462723" y="4462723"/>
                </a:lnTo>
                <a:lnTo>
                  <a:pt x="0" y="446272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TextBox 6">
            <a:extLst>
              <a:ext uri="{FF2B5EF4-FFF2-40B4-BE49-F238E27FC236}">
                <a16:creationId xmlns:a16="http://schemas.microsoft.com/office/drawing/2014/main" id="{06A90847-E47D-E910-25E4-C8A38D9939FB}"/>
              </a:ext>
            </a:extLst>
          </p:cNvPr>
          <p:cNvSpPr txBox="1"/>
          <p:nvPr/>
        </p:nvSpPr>
        <p:spPr>
          <a:xfrm>
            <a:off x="5484999" y="143415"/>
            <a:ext cx="8110656" cy="1317288"/>
          </a:xfrm>
          <a:prstGeom prst="rect">
            <a:avLst/>
          </a:prstGeom>
        </p:spPr>
        <p:txBody>
          <a:bodyPr lIns="0" tIns="0" rIns="0" bIns="0" rtlCol="0" anchor="t">
            <a:spAutoFit/>
          </a:bodyPr>
          <a:lstStyle/>
          <a:p>
            <a:pPr algn="ctr">
              <a:lnSpc>
                <a:spcPts val="10881"/>
              </a:lnSpc>
              <a:spcBef>
                <a:spcPct val="0"/>
              </a:spcBef>
            </a:pPr>
            <a:r>
              <a:rPr lang="en-US" sz="7772">
                <a:solidFill>
                  <a:srgbClr val="000000"/>
                </a:solidFill>
                <a:latin typeface="Etna Sans Serif"/>
                <a:ea typeface="Etna Sans Serif"/>
                <a:cs typeface="Etna Sans Serif"/>
                <a:sym typeface="Etna Sans Serif"/>
              </a:rPr>
              <a:t>KICK TO TECH</a:t>
            </a:r>
          </a:p>
        </p:txBody>
      </p:sp>
      <p:sp>
        <p:nvSpPr>
          <p:cNvPr id="7" name="TextBox 7">
            <a:extLst>
              <a:ext uri="{FF2B5EF4-FFF2-40B4-BE49-F238E27FC236}">
                <a16:creationId xmlns:a16="http://schemas.microsoft.com/office/drawing/2014/main" id="{78CB0675-255E-D535-20F6-942F21A9C7A9}"/>
              </a:ext>
            </a:extLst>
          </p:cNvPr>
          <p:cNvSpPr txBox="1"/>
          <p:nvPr/>
        </p:nvSpPr>
        <p:spPr>
          <a:xfrm>
            <a:off x="366306" y="9507966"/>
            <a:ext cx="1691093" cy="403957"/>
          </a:xfrm>
          <a:prstGeom prst="rect">
            <a:avLst/>
          </a:prstGeom>
        </p:spPr>
        <p:txBody>
          <a:bodyPr wrap="square" lIns="0" tIns="0" rIns="0" bIns="0" rtlCol="0" anchor="t">
            <a:spAutoFit/>
          </a:bodyPr>
          <a:lstStyle/>
          <a:p>
            <a:pPr algn="ctr">
              <a:lnSpc>
                <a:spcPts val="4177"/>
              </a:lnSpc>
              <a:spcBef>
                <a:spcPct val="0"/>
              </a:spcBef>
            </a:pPr>
            <a:r>
              <a:rPr lang="en-US" sz="2983" dirty="0">
                <a:solidFill>
                  <a:srgbClr val="000000"/>
                </a:solidFill>
                <a:latin typeface="Elika Gorica"/>
                <a:ea typeface="Elika Gorica"/>
                <a:cs typeface="Elika Gorica"/>
                <a:sym typeface="Elika Gorica"/>
              </a:rPr>
              <a:t>Page 2</a:t>
            </a:r>
          </a:p>
        </p:txBody>
      </p:sp>
      <p:sp>
        <p:nvSpPr>
          <p:cNvPr id="9" name="TextBox 8">
            <a:extLst>
              <a:ext uri="{FF2B5EF4-FFF2-40B4-BE49-F238E27FC236}">
                <a16:creationId xmlns:a16="http://schemas.microsoft.com/office/drawing/2014/main" id="{D4B4612E-6C6D-E5C3-2AD8-1EFAB8310EFE}"/>
              </a:ext>
            </a:extLst>
          </p:cNvPr>
          <p:cNvSpPr txBox="1"/>
          <p:nvPr/>
        </p:nvSpPr>
        <p:spPr>
          <a:xfrm>
            <a:off x="3048000" y="2857500"/>
            <a:ext cx="11146970" cy="5201424"/>
          </a:xfrm>
          <a:prstGeom prst="rect">
            <a:avLst/>
          </a:prstGeom>
          <a:noFill/>
        </p:spPr>
        <p:txBody>
          <a:bodyPr wrap="square">
            <a:spAutoFit/>
          </a:bodyPr>
          <a:lstStyle/>
          <a:p>
            <a:pPr algn="ctr">
              <a:buNone/>
            </a:pPr>
            <a:r>
              <a:rPr lang="en-IN" sz="6000" b="1" dirty="0">
                <a:latin typeface="Cascadia Mono" panose="020B0609020000020004" pitchFamily="49" charset="0"/>
                <a:ea typeface="Cascadia Mono" panose="020B0609020000020004" pitchFamily="49" charset="0"/>
                <a:cs typeface="Cascadia Mono" panose="020B0609020000020004" pitchFamily="49" charset="0"/>
              </a:rPr>
              <a:t>Problem Statement</a:t>
            </a:r>
          </a:p>
          <a:p>
            <a:pPr>
              <a:buNone/>
            </a:pPr>
            <a:r>
              <a:rPr lang="en-IN" sz="4800" b="1" dirty="0"/>
              <a:t>Problem</a:t>
            </a:r>
          </a:p>
          <a:p>
            <a:pPr>
              <a:buNone/>
            </a:pPr>
            <a:r>
              <a:rPr lang="en-IN" sz="4400" dirty="0"/>
              <a:t>Netflix wants to know which subscribers may cancel their subscription.</a:t>
            </a:r>
          </a:p>
          <a:p>
            <a:pPr>
              <a:buNone/>
            </a:pPr>
            <a:r>
              <a:rPr lang="en-IN" sz="4800" b="1" dirty="0"/>
              <a:t>Solution</a:t>
            </a:r>
          </a:p>
          <a:p>
            <a:pPr>
              <a:buNone/>
            </a:pPr>
            <a:r>
              <a:rPr lang="en-IN" sz="4400" dirty="0"/>
              <a:t>Use Machine Learning to predict subscriber churn.</a:t>
            </a:r>
          </a:p>
        </p:txBody>
      </p:sp>
    </p:spTree>
    <p:extLst>
      <p:ext uri="{BB962C8B-B14F-4D97-AF65-F5344CB8AC3E}">
        <p14:creationId xmlns:p14="http://schemas.microsoft.com/office/powerpoint/2010/main" val="808627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EF7A6-6BD8-CEE7-B898-422164D3365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2DFF519-7B53-FC8F-FDF4-B4BF13CA2965}"/>
              </a:ext>
            </a:extLst>
          </p:cNvPr>
          <p:cNvSpPr/>
          <p:nvPr/>
        </p:nvSpPr>
        <p:spPr>
          <a:xfrm rot="1607165">
            <a:off x="16411705" y="6395076"/>
            <a:ext cx="2965121" cy="4727004"/>
          </a:xfrm>
          <a:custGeom>
            <a:avLst/>
            <a:gdLst/>
            <a:ahLst/>
            <a:cxnLst/>
            <a:rect l="l" t="t" r="r" b="b"/>
            <a:pathLst>
              <a:path w="2965121" h="4727004">
                <a:moveTo>
                  <a:pt x="0" y="0"/>
                </a:moveTo>
                <a:lnTo>
                  <a:pt x="2965121" y="0"/>
                </a:lnTo>
                <a:lnTo>
                  <a:pt x="2965121" y="4727004"/>
                </a:lnTo>
                <a:lnTo>
                  <a:pt x="0" y="472700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a:extLst>
              <a:ext uri="{FF2B5EF4-FFF2-40B4-BE49-F238E27FC236}">
                <a16:creationId xmlns:a16="http://schemas.microsoft.com/office/drawing/2014/main" id="{82CB54A2-00FC-28EF-E7A7-3ED1A7483E6E}"/>
              </a:ext>
            </a:extLst>
          </p:cNvPr>
          <p:cNvSpPr/>
          <p:nvPr/>
        </p:nvSpPr>
        <p:spPr>
          <a:xfrm rot="1607165" flipH="1" flipV="1">
            <a:off x="-1103996" y="-788407"/>
            <a:ext cx="2940606" cy="4687923"/>
          </a:xfrm>
          <a:custGeom>
            <a:avLst/>
            <a:gdLst/>
            <a:ahLst/>
            <a:cxnLst/>
            <a:rect l="l" t="t" r="r" b="b"/>
            <a:pathLst>
              <a:path w="2940606" h="4687923">
                <a:moveTo>
                  <a:pt x="2940606" y="4687923"/>
                </a:moveTo>
                <a:lnTo>
                  <a:pt x="0" y="4687923"/>
                </a:lnTo>
                <a:lnTo>
                  <a:pt x="0" y="0"/>
                </a:lnTo>
                <a:lnTo>
                  <a:pt x="2940606" y="0"/>
                </a:lnTo>
                <a:lnTo>
                  <a:pt x="2940606" y="4687923"/>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a:extLst>
              <a:ext uri="{FF2B5EF4-FFF2-40B4-BE49-F238E27FC236}">
                <a16:creationId xmlns:a16="http://schemas.microsoft.com/office/drawing/2014/main" id="{374CF0BF-A691-0C73-1570-B7CDD1EE1754}"/>
              </a:ext>
            </a:extLst>
          </p:cNvPr>
          <p:cNvSpPr/>
          <p:nvPr/>
        </p:nvSpPr>
        <p:spPr>
          <a:xfrm>
            <a:off x="4589652" y="286290"/>
            <a:ext cx="1650505" cy="1650505"/>
          </a:xfrm>
          <a:custGeom>
            <a:avLst/>
            <a:gdLst/>
            <a:ahLst/>
            <a:cxnLst/>
            <a:rect l="l" t="t" r="r" b="b"/>
            <a:pathLst>
              <a:path w="1650505" h="1650505">
                <a:moveTo>
                  <a:pt x="0" y="0"/>
                </a:moveTo>
                <a:lnTo>
                  <a:pt x="1650505" y="0"/>
                </a:lnTo>
                <a:lnTo>
                  <a:pt x="1650505" y="1650505"/>
                </a:lnTo>
                <a:lnTo>
                  <a:pt x="0" y="1650505"/>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8728BA33-425C-5CFE-B0E9-86E744F6305C}"/>
              </a:ext>
            </a:extLst>
          </p:cNvPr>
          <p:cNvSpPr/>
          <p:nvPr/>
        </p:nvSpPr>
        <p:spPr>
          <a:xfrm rot="2700000">
            <a:off x="7308966" y="-780952"/>
            <a:ext cx="4462723" cy="4462723"/>
          </a:xfrm>
          <a:custGeom>
            <a:avLst/>
            <a:gdLst/>
            <a:ahLst/>
            <a:cxnLst/>
            <a:rect l="l" t="t" r="r" b="b"/>
            <a:pathLst>
              <a:path w="4462723" h="4462723">
                <a:moveTo>
                  <a:pt x="0" y="0"/>
                </a:moveTo>
                <a:lnTo>
                  <a:pt x="4462723" y="0"/>
                </a:lnTo>
                <a:lnTo>
                  <a:pt x="4462723" y="4462723"/>
                </a:lnTo>
                <a:lnTo>
                  <a:pt x="0" y="446272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TextBox 6">
            <a:extLst>
              <a:ext uri="{FF2B5EF4-FFF2-40B4-BE49-F238E27FC236}">
                <a16:creationId xmlns:a16="http://schemas.microsoft.com/office/drawing/2014/main" id="{3F708D0E-2A4C-546B-BC07-12CF58560C68}"/>
              </a:ext>
            </a:extLst>
          </p:cNvPr>
          <p:cNvSpPr txBox="1"/>
          <p:nvPr/>
        </p:nvSpPr>
        <p:spPr>
          <a:xfrm>
            <a:off x="5484999" y="143415"/>
            <a:ext cx="8110656" cy="1317288"/>
          </a:xfrm>
          <a:prstGeom prst="rect">
            <a:avLst/>
          </a:prstGeom>
        </p:spPr>
        <p:txBody>
          <a:bodyPr lIns="0" tIns="0" rIns="0" bIns="0" rtlCol="0" anchor="t">
            <a:spAutoFit/>
          </a:bodyPr>
          <a:lstStyle/>
          <a:p>
            <a:pPr algn="ctr">
              <a:lnSpc>
                <a:spcPts val="10881"/>
              </a:lnSpc>
              <a:spcBef>
                <a:spcPct val="0"/>
              </a:spcBef>
            </a:pPr>
            <a:r>
              <a:rPr lang="en-US" sz="7772">
                <a:solidFill>
                  <a:srgbClr val="000000"/>
                </a:solidFill>
                <a:latin typeface="Etna Sans Serif"/>
                <a:ea typeface="Etna Sans Serif"/>
                <a:cs typeface="Etna Sans Serif"/>
                <a:sym typeface="Etna Sans Serif"/>
              </a:rPr>
              <a:t>KICK TO TECH</a:t>
            </a:r>
          </a:p>
        </p:txBody>
      </p:sp>
      <p:sp>
        <p:nvSpPr>
          <p:cNvPr id="7" name="TextBox 7">
            <a:extLst>
              <a:ext uri="{FF2B5EF4-FFF2-40B4-BE49-F238E27FC236}">
                <a16:creationId xmlns:a16="http://schemas.microsoft.com/office/drawing/2014/main" id="{B3FF6D4E-8052-AAE1-3A40-064398398316}"/>
              </a:ext>
            </a:extLst>
          </p:cNvPr>
          <p:cNvSpPr txBox="1"/>
          <p:nvPr/>
        </p:nvSpPr>
        <p:spPr>
          <a:xfrm>
            <a:off x="366306" y="9507966"/>
            <a:ext cx="1386293" cy="403957"/>
          </a:xfrm>
          <a:prstGeom prst="rect">
            <a:avLst/>
          </a:prstGeom>
        </p:spPr>
        <p:txBody>
          <a:bodyPr wrap="square" lIns="0" tIns="0" rIns="0" bIns="0" rtlCol="0" anchor="t">
            <a:spAutoFit/>
          </a:bodyPr>
          <a:lstStyle/>
          <a:p>
            <a:pPr algn="ctr">
              <a:lnSpc>
                <a:spcPts val="4177"/>
              </a:lnSpc>
              <a:spcBef>
                <a:spcPct val="0"/>
              </a:spcBef>
            </a:pPr>
            <a:r>
              <a:rPr lang="en-US" sz="2983" dirty="0">
                <a:solidFill>
                  <a:srgbClr val="000000"/>
                </a:solidFill>
                <a:latin typeface="Elika Gorica"/>
                <a:ea typeface="Elika Gorica"/>
                <a:cs typeface="Elika Gorica"/>
                <a:sym typeface="Elika Gorica"/>
              </a:rPr>
              <a:t>Page 3</a:t>
            </a:r>
          </a:p>
        </p:txBody>
      </p:sp>
      <p:graphicFrame>
        <p:nvGraphicFramePr>
          <p:cNvPr id="12" name="Table 11">
            <a:extLst>
              <a:ext uri="{FF2B5EF4-FFF2-40B4-BE49-F238E27FC236}">
                <a16:creationId xmlns:a16="http://schemas.microsoft.com/office/drawing/2014/main" id="{6C90D4B9-43AF-5973-77D5-B7D3FE698495}"/>
              </a:ext>
            </a:extLst>
          </p:cNvPr>
          <p:cNvGraphicFramePr>
            <a:graphicFrameLocks noGrp="1"/>
          </p:cNvGraphicFramePr>
          <p:nvPr>
            <p:extLst>
              <p:ext uri="{D42A27DB-BD31-4B8C-83A1-F6EECF244321}">
                <p14:modId xmlns:p14="http://schemas.microsoft.com/office/powerpoint/2010/main" val="1413937335"/>
              </p:ext>
            </p:extLst>
          </p:nvPr>
        </p:nvGraphicFramePr>
        <p:xfrm>
          <a:off x="2438400" y="3800326"/>
          <a:ext cx="12693988" cy="3108960"/>
        </p:xfrm>
        <a:graphic>
          <a:graphicData uri="http://schemas.openxmlformats.org/drawingml/2006/table">
            <a:tbl>
              <a:tblPr/>
              <a:tblGrid>
                <a:gridCol w="3801567">
                  <a:extLst>
                    <a:ext uri="{9D8B030D-6E8A-4147-A177-3AD203B41FA5}">
                      <a16:colId xmlns:a16="http://schemas.microsoft.com/office/drawing/2014/main" val="2710245782"/>
                    </a:ext>
                  </a:extLst>
                </a:gridCol>
                <a:gridCol w="8892421">
                  <a:extLst>
                    <a:ext uri="{9D8B030D-6E8A-4147-A177-3AD203B41FA5}">
                      <a16:colId xmlns:a16="http://schemas.microsoft.com/office/drawing/2014/main" val="2131813595"/>
                    </a:ext>
                  </a:extLst>
                </a:gridCol>
              </a:tblGrid>
              <a:tr h="0">
                <a:tc>
                  <a:txBody>
                    <a:bodyPr/>
                    <a:lstStyle/>
                    <a:p>
                      <a:pPr algn="ctr">
                        <a:buNone/>
                      </a:pPr>
                      <a:r>
                        <a:rPr lang="en-IN" sz="2800"/>
                        <a:t>Feature</a:t>
                      </a:r>
                      <a:endParaRPr lang="en-IN" sz="2800" dirty="0"/>
                    </a:p>
                  </a:txBody>
                  <a:tcPr anchor="ctr">
                    <a:lnL>
                      <a:noFill/>
                    </a:lnL>
                    <a:lnR>
                      <a:noFill/>
                    </a:lnR>
                    <a:lnT>
                      <a:noFill/>
                    </a:lnT>
                    <a:lnB>
                      <a:noFill/>
                    </a:lnB>
                    <a:noFill/>
                  </a:tcPr>
                </a:tc>
                <a:tc>
                  <a:txBody>
                    <a:bodyPr/>
                    <a:lstStyle/>
                    <a:p>
                      <a:pPr algn="ctr">
                        <a:buNone/>
                      </a:pPr>
                      <a:r>
                        <a:rPr lang="en-IN" sz="2800"/>
                        <a:t>Description</a:t>
                      </a:r>
                    </a:p>
                  </a:txBody>
                  <a:tcPr anchor="ctr">
                    <a:lnL>
                      <a:noFill/>
                    </a:lnL>
                    <a:lnR>
                      <a:noFill/>
                    </a:lnR>
                    <a:lnT>
                      <a:noFill/>
                    </a:lnT>
                    <a:lnB>
                      <a:noFill/>
                    </a:lnB>
                    <a:noFill/>
                  </a:tcPr>
                </a:tc>
                <a:extLst>
                  <a:ext uri="{0D108BD9-81ED-4DB2-BD59-A6C34878D82A}">
                    <a16:rowId xmlns:a16="http://schemas.microsoft.com/office/drawing/2014/main" val="2032058678"/>
                  </a:ext>
                </a:extLst>
              </a:tr>
              <a:tr h="0">
                <a:tc>
                  <a:txBody>
                    <a:bodyPr/>
                    <a:lstStyle/>
                    <a:p>
                      <a:pPr algn="ctr">
                        <a:buNone/>
                      </a:pPr>
                      <a:r>
                        <a:rPr lang="en-IN" sz="2800"/>
                        <a:t>SubscriptionMonths</a:t>
                      </a:r>
                      <a:endParaRPr lang="en-IN" sz="2800" dirty="0"/>
                    </a:p>
                  </a:txBody>
                  <a:tcPr anchor="ctr">
                    <a:lnL>
                      <a:noFill/>
                    </a:lnL>
                    <a:lnR>
                      <a:noFill/>
                    </a:lnR>
                    <a:lnT>
                      <a:noFill/>
                    </a:lnT>
                    <a:lnB>
                      <a:noFill/>
                    </a:lnB>
                    <a:noFill/>
                  </a:tcPr>
                </a:tc>
                <a:tc>
                  <a:txBody>
                    <a:bodyPr/>
                    <a:lstStyle/>
                    <a:p>
                      <a:pPr algn="ctr">
                        <a:buNone/>
                      </a:pPr>
                      <a:r>
                        <a:rPr lang="en-IN" sz="2800"/>
                        <a:t>Number of months subscribed</a:t>
                      </a:r>
                      <a:endParaRPr lang="en-IN" sz="2800" dirty="0"/>
                    </a:p>
                  </a:txBody>
                  <a:tcPr anchor="ctr">
                    <a:lnL>
                      <a:noFill/>
                    </a:lnL>
                    <a:lnR>
                      <a:noFill/>
                    </a:lnR>
                    <a:lnT>
                      <a:noFill/>
                    </a:lnT>
                    <a:lnB>
                      <a:noFill/>
                    </a:lnB>
                    <a:noFill/>
                  </a:tcPr>
                </a:tc>
                <a:extLst>
                  <a:ext uri="{0D108BD9-81ED-4DB2-BD59-A6C34878D82A}">
                    <a16:rowId xmlns:a16="http://schemas.microsoft.com/office/drawing/2014/main" val="3467387419"/>
                  </a:ext>
                </a:extLst>
              </a:tr>
              <a:tr h="0">
                <a:tc>
                  <a:txBody>
                    <a:bodyPr/>
                    <a:lstStyle/>
                    <a:p>
                      <a:pPr algn="ctr">
                        <a:buNone/>
                      </a:pPr>
                      <a:r>
                        <a:rPr lang="en-IN" sz="2800" dirty="0" err="1"/>
                        <a:t>WatchHours</a:t>
                      </a:r>
                      <a:endParaRPr lang="en-IN" sz="2800" dirty="0"/>
                    </a:p>
                  </a:txBody>
                  <a:tcPr anchor="ctr">
                    <a:lnL>
                      <a:noFill/>
                    </a:lnL>
                    <a:lnR>
                      <a:noFill/>
                    </a:lnR>
                    <a:lnT>
                      <a:noFill/>
                    </a:lnT>
                    <a:lnB>
                      <a:noFill/>
                    </a:lnB>
                    <a:noFill/>
                  </a:tcPr>
                </a:tc>
                <a:tc>
                  <a:txBody>
                    <a:bodyPr/>
                    <a:lstStyle/>
                    <a:p>
                      <a:pPr algn="ctr">
                        <a:buNone/>
                      </a:pPr>
                      <a:r>
                        <a:rPr lang="en-IN" sz="2800" dirty="0"/>
                        <a:t>Total watch hours</a:t>
                      </a:r>
                    </a:p>
                  </a:txBody>
                  <a:tcPr anchor="ctr">
                    <a:lnL>
                      <a:noFill/>
                    </a:lnL>
                    <a:lnR>
                      <a:noFill/>
                    </a:lnR>
                    <a:lnT>
                      <a:noFill/>
                    </a:lnT>
                    <a:lnB>
                      <a:noFill/>
                    </a:lnB>
                    <a:noFill/>
                  </a:tcPr>
                </a:tc>
                <a:extLst>
                  <a:ext uri="{0D108BD9-81ED-4DB2-BD59-A6C34878D82A}">
                    <a16:rowId xmlns:a16="http://schemas.microsoft.com/office/drawing/2014/main" val="1386685617"/>
                  </a:ext>
                </a:extLst>
              </a:tr>
              <a:tr h="0">
                <a:tc>
                  <a:txBody>
                    <a:bodyPr/>
                    <a:lstStyle/>
                    <a:p>
                      <a:pPr algn="ctr">
                        <a:buNone/>
                      </a:pPr>
                      <a:r>
                        <a:rPr lang="en-IN" sz="2800"/>
                        <a:t>Logins</a:t>
                      </a:r>
                    </a:p>
                  </a:txBody>
                  <a:tcPr anchor="ctr">
                    <a:lnL>
                      <a:noFill/>
                    </a:lnL>
                    <a:lnR>
                      <a:noFill/>
                    </a:lnR>
                    <a:lnT>
                      <a:noFill/>
                    </a:lnT>
                    <a:lnB>
                      <a:noFill/>
                    </a:lnB>
                    <a:noFill/>
                  </a:tcPr>
                </a:tc>
                <a:tc>
                  <a:txBody>
                    <a:bodyPr/>
                    <a:lstStyle/>
                    <a:p>
                      <a:pPr algn="ctr">
                        <a:buNone/>
                      </a:pPr>
                      <a:r>
                        <a:rPr lang="en-IN" sz="2800" dirty="0"/>
                        <a:t>Number of logins</a:t>
                      </a:r>
                    </a:p>
                  </a:txBody>
                  <a:tcPr anchor="ctr">
                    <a:lnL>
                      <a:noFill/>
                    </a:lnL>
                    <a:lnR>
                      <a:noFill/>
                    </a:lnR>
                    <a:lnT>
                      <a:noFill/>
                    </a:lnT>
                    <a:lnB>
                      <a:noFill/>
                    </a:lnB>
                    <a:noFill/>
                  </a:tcPr>
                </a:tc>
                <a:extLst>
                  <a:ext uri="{0D108BD9-81ED-4DB2-BD59-A6C34878D82A}">
                    <a16:rowId xmlns:a16="http://schemas.microsoft.com/office/drawing/2014/main" val="3400702153"/>
                  </a:ext>
                </a:extLst>
              </a:tr>
              <a:tr h="0">
                <a:tc>
                  <a:txBody>
                    <a:bodyPr/>
                    <a:lstStyle/>
                    <a:p>
                      <a:pPr algn="ctr">
                        <a:buNone/>
                      </a:pPr>
                      <a:r>
                        <a:rPr lang="en-IN" sz="2800"/>
                        <a:t>Complaints</a:t>
                      </a:r>
                    </a:p>
                  </a:txBody>
                  <a:tcPr anchor="ctr">
                    <a:lnL>
                      <a:noFill/>
                    </a:lnL>
                    <a:lnR>
                      <a:noFill/>
                    </a:lnR>
                    <a:lnT>
                      <a:noFill/>
                    </a:lnT>
                    <a:lnB>
                      <a:noFill/>
                    </a:lnB>
                    <a:noFill/>
                  </a:tcPr>
                </a:tc>
                <a:tc>
                  <a:txBody>
                    <a:bodyPr/>
                    <a:lstStyle/>
                    <a:p>
                      <a:pPr algn="ctr">
                        <a:buNone/>
                      </a:pPr>
                      <a:r>
                        <a:rPr lang="en-IN" sz="2800"/>
                        <a:t>Customer complaints</a:t>
                      </a:r>
                      <a:endParaRPr lang="en-IN" sz="2800" dirty="0"/>
                    </a:p>
                  </a:txBody>
                  <a:tcPr anchor="ctr">
                    <a:lnL>
                      <a:noFill/>
                    </a:lnL>
                    <a:lnR>
                      <a:noFill/>
                    </a:lnR>
                    <a:lnT>
                      <a:noFill/>
                    </a:lnT>
                    <a:lnB>
                      <a:noFill/>
                    </a:lnB>
                    <a:noFill/>
                  </a:tcPr>
                </a:tc>
                <a:extLst>
                  <a:ext uri="{0D108BD9-81ED-4DB2-BD59-A6C34878D82A}">
                    <a16:rowId xmlns:a16="http://schemas.microsoft.com/office/drawing/2014/main" val="1266119885"/>
                  </a:ext>
                </a:extLst>
              </a:tr>
              <a:tr h="0">
                <a:tc>
                  <a:txBody>
                    <a:bodyPr/>
                    <a:lstStyle/>
                    <a:p>
                      <a:pPr algn="ctr">
                        <a:buNone/>
                      </a:pPr>
                      <a:r>
                        <a:rPr lang="en-IN" sz="2800"/>
                        <a:t>Churn</a:t>
                      </a:r>
                    </a:p>
                  </a:txBody>
                  <a:tcPr anchor="ctr">
                    <a:lnL>
                      <a:noFill/>
                    </a:lnL>
                    <a:lnR>
                      <a:noFill/>
                    </a:lnR>
                    <a:lnT>
                      <a:noFill/>
                    </a:lnT>
                    <a:lnB>
                      <a:noFill/>
                    </a:lnB>
                    <a:noFill/>
                  </a:tcPr>
                </a:tc>
                <a:tc>
                  <a:txBody>
                    <a:bodyPr/>
                    <a:lstStyle/>
                    <a:p>
                      <a:pPr algn="ctr">
                        <a:buNone/>
                      </a:pPr>
                      <a:r>
                        <a:rPr lang="en-IN" sz="2800" dirty="0"/>
                        <a:t>Cancel or Continue</a:t>
                      </a:r>
                    </a:p>
                  </a:txBody>
                  <a:tcPr anchor="ctr">
                    <a:lnL>
                      <a:noFill/>
                    </a:lnL>
                    <a:lnR>
                      <a:noFill/>
                    </a:lnR>
                    <a:lnT>
                      <a:noFill/>
                    </a:lnT>
                    <a:lnB>
                      <a:noFill/>
                    </a:lnB>
                    <a:noFill/>
                  </a:tcPr>
                </a:tc>
                <a:extLst>
                  <a:ext uri="{0D108BD9-81ED-4DB2-BD59-A6C34878D82A}">
                    <a16:rowId xmlns:a16="http://schemas.microsoft.com/office/drawing/2014/main" val="2664593012"/>
                  </a:ext>
                </a:extLst>
              </a:tr>
            </a:tbl>
          </a:graphicData>
        </a:graphic>
      </p:graphicFrame>
      <p:sp>
        <p:nvSpPr>
          <p:cNvPr id="14" name="TextBox 13">
            <a:extLst>
              <a:ext uri="{FF2B5EF4-FFF2-40B4-BE49-F238E27FC236}">
                <a16:creationId xmlns:a16="http://schemas.microsoft.com/office/drawing/2014/main" id="{52341F5E-803F-2B98-FA85-C4145D278D44}"/>
              </a:ext>
            </a:extLst>
          </p:cNvPr>
          <p:cNvSpPr txBox="1"/>
          <p:nvPr/>
        </p:nvSpPr>
        <p:spPr>
          <a:xfrm>
            <a:off x="1785256" y="2905221"/>
            <a:ext cx="11146970" cy="769441"/>
          </a:xfrm>
          <a:prstGeom prst="rect">
            <a:avLst/>
          </a:prstGeom>
          <a:noFill/>
        </p:spPr>
        <p:txBody>
          <a:bodyPr wrap="square">
            <a:spAutoFit/>
          </a:bodyPr>
          <a:lstStyle/>
          <a:p>
            <a:pPr algn="ctr">
              <a:buNone/>
            </a:pPr>
            <a:r>
              <a:rPr lang="en-IN" sz="4400" b="1" dirty="0"/>
              <a:t>Dataset </a:t>
            </a:r>
            <a:r>
              <a:rPr lang="en-IN" sz="4400" b="1" dirty="0">
                <a:latin typeface="Cascadia Mono" panose="020B0609020000020004" pitchFamily="49" charset="0"/>
                <a:ea typeface="Cascadia Mono" panose="020B0609020000020004" pitchFamily="49" charset="0"/>
                <a:cs typeface="Cascadia Mono" panose="020B0609020000020004" pitchFamily="49" charset="0"/>
              </a:rPr>
              <a:t>Features</a:t>
            </a:r>
          </a:p>
        </p:txBody>
      </p:sp>
      <p:sp>
        <p:nvSpPr>
          <p:cNvPr id="16" name="TextBox 15">
            <a:extLst>
              <a:ext uri="{FF2B5EF4-FFF2-40B4-BE49-F238E27FC236}">
                <a16:creationId xmlns:a16="http://schemas.microsoft.com/office/drawing/2014/main" id="{1B3A47B8-645E-1508-B06B-33E16AFD5134}"/>
              </a:ext>
            </a:extLst>
          </p:cNvPr>
          <p:cNvSpPr txBox="1"/>
          <p:nvPr/>
        </p:nvSpPr>
        <p:spPr>
          <a:xfrm>
            <a:off x="1992086" y="7293503"/>
            <a:ext cx="11146970" cy="1754326"/>
          </a:xfrm>
          <a:prstGeom prst="rect">
            <a:avLst/>
          </a:prstGeom>
          <a:noFill/>
        </p:spPr>
        <p:txBody>
          <a:bodyPr wrap="square">
            <a:spAutoFit/>
          </a:bodyPr>
          <a:lstStyle/>
          <a:p>
            <a:pPr algn="ctr">
              <a:buNone/>
            </a:pPr>
            <a:r>
              <a:rPr lang="en-IN" sz="4400" b="1" dirty="0">
                <a:latin typeface="Cascadia Mono" panose="020B0609020000020004" pitchFamily="49" charset="0"/>
                <a:ea typeface="Cascadia Mono" panose="020B0609020000020004" pitchFamily="49" charset="0"/>
                <a:cs typeface="Cascadia Mono" panose="020B0609020000020004" pitchFamily="49" charset="0"/>
              </a:rPr>
              <a:t>Target Variable</a:t>
            </a:r>
          </a:p>
          <a:p>
            <a:pPr algn="ctr">
              <a:buFont typeface="Arial" panose="020B0604020202020204" pitchFamily="34" charset="0"/>
              <a:buChar char="•"/>
            </a:pPr>
            <a:r>
              <a:rPr lang="en-IN" sz="3200" dirty="0"/>
              <a:t>Churn = 1 → Cancel Subscription </a:t>
            </a:r>
          </a:p>
          <a:p>
            <a:pPr algn="ctr">
              <a:buFont typeface="Arial" panose="020B0604020202020204" pitchFamily="34" charset="0"/>
              <a:buChar char="•"/>
            </a:pPr>
            <a:r>
              <a:rPr lang="en-IN" sz="3200" dirty="0"/>
              <a:t>Churn = 0 → Continue Subscription</a:t>
            </a:r>
          </a:p>
        </p:txBody>
      </p:sp>
      <p:sp>
        <p:nvSpPr>
          <p:cNvPr id="18" name="TextBox 17">
            <a:extLst>
              <a:ext uri="{FF2B5EF4-FFF2-40B4-BE49-F238E27FC236}">
                <a16:creationId xmlns:a16="http://schemas.microsoft.com/office/drawing/2014/main" id="{3D6262EA-9C71-7784-8843-DDEB4775A344}"/>
              </a:ext>
            </a:extLst>
          </p:cNvPr>
          <p:cNvSpPr txBox="1"/>
          <p:nvPr/>
        </p:nvSpPr>
        <p:spPr>
          <a:xfrm>
            <a:off x="3209187" y="2274720"/>
            <a:ext cx="11152414" cy="369332"/>
          </a:xfrm>
          <a:prstGeom prst="rect">
            <a:avLst/>
          </a:prstGeom>
          <a:noFill/>
        </p:spPr>
        <p:txBody>
          <a:bodyPr wrap="square">
            <a:spAutoFit/>
          </a:bodyPr>
          <a:lstStyle/>
          <a:p>
            <a:r>
              <a:rPr lang="en-IN" dirty="0"/>
              <a:t>Dataset Overview</a:t>
            </a:r>
          </a:p>
        </p:txBody>
      </p:sp>
    </p:spTree>
    <p:extLst>
      <p:ext uri="{BB962C8B-B14F-4D97-AF65-F5344CB8AC3E}">
        <p14:creationId xmlns:p14="http://schemas.microsoft.com/office/powerpoint/2010/main" val="26063839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18DED-CE12-218B-C0E5-F0D6C77D221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1DA8540-2501-E7BC-F112-2AC56F670FB5}"/>
              </a:ext>
            </a:extLst>
          </p:cNvPr>
          <p:cNvSpPr/>
          <p:nvPr/>
        </p:nvSpPr>
        <p:spPr>
          <a:xfrm rot="1607165">
            <a:off x="16411705" y="6395076"/>
            <a:ext cx="2965121" cy="4727004"/>
          </a:xfrm>
          <a:custGeom>
            <a:avLst/>
            <a:gdLst/>
            <a:ahLst/>
            <a:cxnLst/>
            <a:rect l="l" t="t" r="r" b="b"/>
            <a:pathLst>
              <a:path w="2965121" h="4727004">
                <a:moveTo>
                  <a:pt x="0" y="0"/>
                </a:moveTo>
                <a:lnTo>
                  <a:pt x="2965121" y="0"/>
                </a:lnTo>
                <a:lnTo>
                  <a:pt x="2965121" y="4727004"/>
                </a:lnTo>
                <a:lnTo>
                  <a:pt x="0" y="472700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a:extLst>
              <a:ext uri="{FF2B5EF4-FFF2-40B4-BE49-F238E27FC236}">
                <a16:creationId xmlns:a16="http://schemas.microsoft.com/office/drawing/2014/main" id="{BD6A9D5F-A44F-18CF-63A7-AFBFFA134E53}"/>
              </a:ext>
            </a:extLst>
          </p:cNvPr>
          <p:cNvSpPr/>
          <p:nvPr/>
        </p:nvSpPr>
        <p:spPr>
          <a:xfrm rot="1607165" flipH="1" flipV="1">
            <a:off x="-1103996" y="-788407"/>
            <a:ext cx="2940606" cy="4687923"/>
          </a:xfrm>
          <a:custGeom>
            <a:avLst/>
            <a:gdLst/>
            <a:ahLst/>
            <a:cxnLst/>
            <a:rect l="l" t="t" r="r" b="b"/>
            <a:pathLst>
              <a:path w="2940606" h="4687923">
                <a:moveTo>
                  <a:pt x="2940606" y="4687923"/>
                </a:moveTo>
                <a:lnTo>
                  <a:pt x="0" y="4687923"/>
                </a:lnTo>
                <a:lnTo>
                  <a:pt x="0" y="0"/>
                </a:lnTo>
                <a:lnTo>
                  <a:pt x="2940606" y="0"/>
                </a:lnTo>
                <a:lnTo>
                  <a:pt x="2940606" y="4687923"/>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a:extLst>
              <a:ext uri="{FF2B5EF4-FFF2-40B4-BE49-F238E27FC236}">
                <a16:creationId xmlns:a16="http://schemas.microsoft.com/office/drawing/2014/main" id="{82C19392-BF3F-FD6F-E783-4F4CE08B8815}"/>
              </a:ext>
            </a:extLst>
          </p:cNvPr>
          <p:cNvSpPr/>
          <p:nvPr/>
        </p:nvSpPr>
        <p:spPr>
          <a:xfrm>
            <a:off x="4589652" y="286290"/>
            <a:ext cx="1650505" cy="1650505"/>
          </a:xfrm>
          <a:custGeom>
            <a:avLst/>
            <a:gdLst/>
            <a:ahLst/>
            <a:cxnLst/>
            <a:rect l="l" t="t" r="r" b="b"/>
            <a:pathLst>
              <a:path w="1650505" h="1650505">
                <a:moveTo>
                  <a:pt x="0" y="0"/>
                </a:moveTo>
                <a:lnTo>
                  <a:pt x="1650505" y="0"/>
                </a:lnTo>
                <a:lnTo>
                  <a:pt x="1650505" y="1650505"/>
                </a:lnTo>
                <a:lnTo>
                  <a:pt x="0" y="1650505"/>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AEFF51C9-8ED2-427E-D68C-D05F4B690EC3}"/>
              </a:ext>
            </a:extLst>
          </p:cNvPr>
          <p:cNvSpPr/>
          <p:nvPr/>
        </p:nvSpPr>
        <p:spPr>
          <a:xfrm rot="2700000">
            <a:off x="7308966" y="-780952"/>
            <a:ext cx="4462723" cy="4462723"/>
          </a:xfrm>
          <a:custGeom>
            <a:avLst/>
            <a:gdLst/>
            <a:ahLst/>
            <a:cxnLst/>
            <a:rect l="l" t="t" r="r" b="b"/>
            <a:pathLst>
              <a:path w="4462723" h="4462723">
                <a:moveTo>
                  <a:pt x="0" y="0"/>
                </a:moveTo>
                <a:lnTo>
                  <a:pt x="4462723" y="0"/>
                </a:lnTo>
                <a:lnTo>
                  <a:pt x="4462723" y="4462723"/>
                </a:lnTo>
                <a:lnTo>
                  <a:pt x="0" y="446272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TextBox 6">
            <a:extLst>
              <a:ext uri="{FF2B5EF4-FFF2-40B4-BE49-F238E27FC236}">
                <a16:creationId xmlns:a16="http://schemas.microsoft.com/office/drawing/2014/main" id="{C9D226D2-AE9F-E043-00A0-841FF8E900FB}"/>
              </a:ext>
            </a:extLst>
          </p:cNvPr>
          <p:cNvSpPr txBox="1"/>
          <p:nvPr/>
        </p:nvSpPr>
        <p:spPr>
          <a:xfrm>
            <a:off x="5484999" y="143415"/>
            <a:ext cx="8110656" cy="1317288"/>
          </a:xfrm>
          <a:prstGeom prst="rect">
            <a:avLst/>
          </a:prstGeom>
        </p:spPr>
        <p:txBody>
          <a:bodyPr lIns="0" tIns="0" rIns="0" bIns="0" rtlCol="0" anchor="t">
            <a:spAutoFit/>
          </a:bodyPr>
          <a:lstStyle/>
          <a:p>
            <a:pPr algn="ctr">
              <a:lnSpc>
                <a:spcPts val="10881"/>
              </a:lnSpc>
              <a:spcBef>
                <a:spcPct val="0"/>
              </a:spcBef>
            </a:pPr>
            <a:r>
              <a:rPr lang="en-US" sz="7772">
                <a:solidFill>
                  <a:srgbClr val="000000"/>
                </a:solidFill>
                <a:latin typeface="Etna Sans Serif"/>
                <a:ea typeface="Etna Sans Serif"/>
                <a:cs typeface="Etna Sans Serif"/>
                <a:sym typeface="Etna Sans Serif"/>
              </a:rPr>
              <a:t>KICK TO TECH</a:t>
            </a:r>
          </a:p>
        </p:txBody>
      </p:sp>
      <p:sp>
        <p:nvSpPr>
          <p:cNvPr id="7" name="TextBox 7">
            <a:extLst>
              <a:ext uri="{FF2B5EF4-FFF2-40B4-BE49-F238E27FC236}">
                <a16:creationId xmlns:a16="http://schemas.microsoft.com/office/drawing/2014/main" id="{1445AA76-C91B-2FEE-6F99-2F9F89537BB2}"/>
              </a:ext>
            </a:extLst>
          </p:cNvPr>
          <p:cNvSpPr txBox="1"/>
          <p:nvPr/>
        </p:nvSpPr>
        <p:spPr>
          <a:xfrm>
            <a:off x="366306" y="9507966"/>
            <a:ext cx="1310093" cy="403957"/>
          </a:xfrm>
          <a:prstGeom prst="rect">
            <a:avLst/>
          </a:prstGeom>
        </p:spPr>
        <p:txBody>
          <a:bodyPr wrap="square" lIns="0" tIns="0" rIns="0" bIns="0" rtlCol="0" anchor="t">
            <a:spAutoFit/>
          </a:bodyPr>
          <a:lstStyle/>
          <a:p>
            <a:pPr algn="ctr">
              <a:lnSpc>
                <a:spcPts val="4177"/>
              </a:lnSpc>
              <a:spcBef>
                <a:spcPct val="0"/>
              </a:spcBef>
            </a:pPr>
            <a:r>
              <a:rPr lang="en-US" sz="2983" dirty="0">
                <a:solidFill>
                  <a:srgbClr val="000000"/>
                </a:solidFill>
                <a:latin typeface="Elika Gorica"/>
                <a:ea typeface="Elika Gorica"/>
                <a:cs typeface="Elika Gorica"/>
                <a:sym typeface="Elika Gorica"/>
              </a:rPr>
              <a:t>Page 4</a:t>
            </a:r>
          </a:p>
        </p:txBody>
      </p:sp>
      <p:sp>
        <p:nvSpPr>
          <p:cNvPr id="9" name="TextBox 8">
            <a:extLst>
              <a:ext uri="{FF2B5EF4-FFF2-40B4-BE49-F238E27FC236}">
                <a16:creationId xmlns:a16="http://schemas.microsoft.com/office/drawing/2014/main" id="{5B2092C9-601E-FBEA-053A-1A97C262B30B}"/>
              </a:ext>
            </a:extLst>
          </p:cNvPr>
          <p:cNvSpPr txBox="1"/>
          <p:nvPr/>
        </p:nvSpPr>
        <p:spPr>
          <a:xfrm>
            <a:off x="1562099" y="2942969"/>
            <a:ext cx="15163801" cy="6432530"/>
          </a:xfrm>
          <a:prstGeom prst="rect">
            <a:avLst/>
          </a:prstGeom>
          <a:noFill/>
        </p:spPr>
        <p:txBody>
          <a:bodyPr wrap="square">
            <a:spAutoFit/>
          </a:bodyPr>
          <a:lstStyle/>
          <a:p>
            <a:pPr algn="ctr">
              <a:buNone/>
            </a:pPr>
            <a:r>
              <a:rPr lang="en-IN" sz="4400" b="1" dirty="0">
                <a:latin typeface="Cascadia Mono" panose="020B0609020000020004" pitchFamily="49" charset="0"/>
                <a:ea typeface="Cascadia Mono" panose="020B0609020000020004" pitchFamily="49" charset="0"/>
                <a:cs typeface="Cascadia Mono" panose="020B0609020000020004" pitchFamily="49" charset="0"/>
              </a:rPr>
              <a:t>Steps Performed</a:t>
            </a:r>
          </a:p>
          <a:p>
            <a:pPr algn="ctr">
              <a:buFont typeface="+mj-lt"/>
              <a:buAutoNum type="arabicPeriod"/>
            </a:pPr>
            <a:r>
              <a:rPr lang="en-IN" sz="2800" dirty="0"/>
              <a:t>Loaded dataset using Pandas </a:t>
            </a:r>
          </a:p>
          <a:p>
            <a:pPr algn="ctr">
              <a:buFont typeface="+mj-lt"/>
              <a:buAutoNum type="arabicPeriod"/>
            </a:pPr>
            <a:r>
              <a:rPr lang="en-IN" sz="2800" dirty="0"/>
              <a:t>Selected required columns </a:t>
            </a:r>
          </a:p>
          <a:p>
            <a:pPr algn="ctr">
              <a:buFont typeface="+mj-lt"/>
              <a:buAutoNum type="arabicPeriod"/>
            </a:pPr>
            <a:r>
              <a:rPr lang="en-IN" sz="2800" dirty="0"/>
              <a:t>Divided data into: </a:t>
            </a:r>
          </a:p>
          <a:p>
            <a:pPr marL="742950" lvl="1" indent="-285750" algn="ctr">
              <a:buFont typeface="+mj-lt"/>
              <a:buAutoNum type="arabicPeriod"/>
            </a:pPr>
            <a:r>
              <a:rPr lang="en-IN" sz="2800" dirty="0"/>
              <a:t>Input Features (X) </a:t>
            </a:r>
          </a:p>
          <a:p>
            <a:pPr marL="742950" lvl="1" indent="-285750" algn="ctr">
              <a:buFont typeface="+mj-lt"/>
              <a:buAutoNum type="arabicPeriod"/>
            </a:pPr>
            <a:r>
              <a:rPr lang="en-IN" sz="2800" dirty="0"/>
              <a:t>Output Feature (Y) </a:t>
            </a:r>
          </a:p>
          <a:p>
            <a:pPr algn="ctr">
              <a:buNone/>
            </a:pPr>
            <a:r>
              <a:rPr lang="en-IN" sz="4400" b="1" dirty="0">
                <a:latin typeface="Cascadia Mono" panose="020B0609020000020004" pitchFamily="49" charset="0"/>
                <a:ea typeface="Cascadia Mono" panose="020B0609020000020004" pitchFamily="49" charset="0"/>
                <a:cs typeface="Cascadia Mono" panose="020B0609020000020004" pitchFamily="49" charset="0"/>
              </a:rPr>
              <a:t>Input Features</a:t>
            </a:r>
          </a:p>
          <a:p>
            <a:pPr algn="ctr">
              <a:buFont typeface="Arial" panose="020B0604020202020204" pitchFamily="34" charset="0"/>
              <a:buChar char="•"/>
            </a:pPr>
            <a:r>
              <a:rPr lang="en-IN" sz="2800" dirty="0" err="1"/>
              <a:t>SubscriptionMonths</a:t>
            </a:r>
            <a:r>
              <a:rPr lang="en-IN" sz="2800" dirty="0"/>
              <a:t> </a:t>
            </a:r>
          </a:p>
          <a:p>
            <a:pPr algn="ctr">
              <a:buFont typeface="Arial" panose="020B0604020202020204" pitchFamily="34" charset="0"/>
              <a:buChar char="•"/>
            </a:pPr>
            <a:r>
              <a:rPr lang="en-IN" sz="2800" dirty="0" err="1"/>
              <a:t>WatchHours</a:t>
            </a:r>
            <a:r>
              <a:rPr lang="en-IN" sz="2800" dirty="0"/>
              <a:t> </a:t>
            </a:r>
          </a:p>
          <a:p>
            <a:pPr algn="ctr">
              <a:buFont typeface="Arial" panose="020B0604020202020204" pitchFamily="34" charset="0"/>
              <a:buChar char="•"/>
            </a:pPr>
            <a:r>
              <a:rPr lang="en-IN" sz="2800" dirty="0"/>
              <a:t>Logins </a:t>
            </a:r>
          </a:p>
          <a:p>
            <a:pPr algn="ctr">
              <a:buFont typeface="Arial" panose="020B0604020202020204" pitchFamily="34" charset="0"/>
              <a:buChar char="•"/>
            </a:pPr>
            <a:r>
              <a:rPr lang="en-IN" sz="2800" dirty="0"/>
              <a:t>Complaints </a:t>
            </a:r>
          </a:p>
          <a:p>
            <a:pPr algn="ctr">
              <a:buNone/>
            </a:pPr>
            <a:r>
              <a:rPr lang="en-IN" sz="4400" b="1" dirty="0">
                <a:latin typeface="Cascadia Mono" panose="020B0609020000020004" pitchFamily="49" charset="0"/>
                <a:ea typeface="Cascadia Mono" panose="020B0609020000020004" pitchFamily="49" charset="0"/>
                <a:cs typeface="Cascadia Mono" panose="020B0609020000020004" pitchFamily="49" charset="0"/>
              </a:rPr>
              <a:t>Output Feature</a:t>
            </a:r>
          </a:p>
          <a:p>
            <a:pPr algn="ctr">
              <a:buFont typeface="Arial" panose="020B0604020202020204" pitchFamily="34" charset="0"/>
              <a:buChar char="•"/>
            </a:pPr>
            <a:r>
              <a:rPr lang="en-IN" sz="2800" dirty="0"/>
              <a:t>Churn</a:t>
            </a:r>
          </a:p>
        </p:txBody>
      </p:sp>
      <p:sp>
        <p:nvSpPr>
          <p:cNvPr id="11" name="TextBox 10">
            <a:extLst>
              <a:ext uri="{FF2B5EF4-FFF2-40B4-BE49-F238E27FC236}">
                <a16:creationId xmlns:a16="http://schemas.microsoft.com/office/drawing/2014/main" id="{2E912918-7C12-2D6A-08D0-E6B2222990C1}"/>
              </a:ext>
            </a:extLst>
          </p:cNvPr>
          <p:cNvSpPr txBox="1"/>
          <p:nvPr/>
        </p:nvSpPr>
        <p:spPr>
          <a:xfrm>
            <a:off x="3810000" y="2255216"/>
            <a:ext cx="11152414" cy="369332"/>
          </a:xfrm>
          <a:prstGeom prst="rect">
            <a:avLst/>
          </a:prstGeom>
          <a:noFill/>
        </p:spPr>
        <p:txBody>
          <a:bodyPr wrap="square">
            <a:spAutoFit/>
          </a:bodyPr>
          <a:lstStyle/>
          <a:p>
            <a:r>
              <a:rPr lang="en-IN" dirty="0"/>
              <a:t>Data Preparation</a:t>
            </a:r>
          </a:p>
        </p:txBody>
      </p:sp>
    </p:spTree>
    <p:extLst>
      <p:ext uri="{BB962C8B-B14F-4D97-AF65-F5344CB8AC3E}">
        <p14:creationId xmlns:p14="http://schemas.microsoft.com/office/powerpoint/2010/main" val="15712486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02731-0D69-230D-B8BC-EB4F019BCC9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1DE64AA-CB0F-E328-9930-434A82DB0B1C}"/>
              </a:ext>
            </a:extLst>
          </p:cNvPr>
          <p:cNvSpPr/>
          <p:nvPr/>
        </p:nvSpPr>
        <p:spPr>
          <a:xfrm rot="1607165">
            <a:off x="16411705" y="6395076"/>
            <a:ext cx="2965121" cy="4727004"/>
          </a:xfrm>
          <a:custGeom>
            <a:avLst/>
            <a:gdLst/>
            <a:ahLst/>
            <a:cxnLst/>
            <a:rect l="l" t="t" r="r" b="b"/>
            <a:pathLst>
              <a:path w="2965121" h="4727004">
                <a:moveTo>
                  <a:pt x="0" y="0"/>
                </a:moveTo>
                <a:lnTo>
                  <a:pt x="2965121" y="0"/>
                </a:lnTo>
                <a:lnTo>
                  <a:pt x="2965121" y="4727004"/>
                </a:lnTo>
                <a:lnTo>
                  <a:pt x="0" y="472700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a:extLst>
              <a:ext uri="{FF2B5EF4-FFF2-40B4-BE49-F238E27FC236}">
                <a16:creationId xmlns:a16="http://schemas.microsoft.com/office/drawing/2014/main" id="{32230D6A-5F4A-0B61-6112-E5B65E6047B4}"/>
              </a:ext>
            </a:extLst>
          </p:cNvPr>
          <p:cNvSpPr/>
          <p:nvPr/>
        </p:nvSpPr>
        <p:spPr>
          <a:xfrm rot="1607165" flipH="1" flipV="1">
            <a:off x="-1103996" y="-788407"/>
            <a:ext cx="2940606" cy="4687923"/>
          </a:xfrm>
          <a:custGeom>
            <a:avLst/>
            <a:gdLst/>
            <a:ahLst/>
            <a:cxnLst/>
            <a:rect l="l" t="t" r="r" b="b"/>
            <a:pathLst>
              <a:path w="2940606" h="4687923">
                <a:moveTo>
                  <a:pt x="2940606" y="4687923"/>
                </a:moveTo>
                <a:lnTo>
                  <a:pt x="0" y="4687923"/>
                </a:lnTo>
                <a:lnTo>
                  <a:pt x="0" y="0"/>
                </a:lnTo>
                <a:lnTo>
                  <a:pt x="2940606" y="0"/>
                </a:lnTo>
                <a:lnTo>
                  <a:pt x="2940606" y="4687923"/>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a:extLst>
              <a:ext uri="{FF2B5EF4-FFF2-40B4-BE49-F238E27FC236}">
                <a16:creationId xmlns:a16="http://schemas.microsoft.com/office/drawing/2014/main" id="{0F475483-1100-E9E6-252C-086BB644D502}"/>
              </a:ext>
            </a:extLst>
          </p:cNvPr>
          <p:cNvSpPr/>
          <p:nvPr/>
        </p:nvSpPr>
        <p:spPr>
          <a:xfrm>
            <a:off x="4589652" y="286290"/>
            <a:ext cx="1650505" cy="1650505"/>
          </a:xfrm>
          <a:custGeom>
            <a:avLst/>
            <a:gdLst/>
            <a:ahLst/>
            <a:cxnLst/>
            <a:rect l="l" t="t" r="r" b="b"/>
            <a:pathLst>
              <a:path w="1650505" h="1650505">
                <a:moveTo>
                  <a:pt x="0" y="0"/>
                </a:moveTo>
                <a:lnTo>
                  <a:pt x="1650505" y="0"/>
                </a:lnTo>
                <a:lnTo>
                  <a:pt x="1650505" y="1650505"/>
                </a:lnTo>
                <a:lnTo>
                  <a:pt x="0" y="1650505"/>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CE26C0E1-564E-B8F1-11FC-B3B50AE03925}"/>
              </a:ext>
            </a:extLst>
          </p:cNvPr>
          <p:cNvSpPr/>
          <p:nvPr/>
        </p:nvSpPr>
        <p:spPr>
          <a:xfrm rot="2700000">
            <a:off x="7308966" y="-780952"/>
            <a:ext cx="4462723" cy="4462723"/>
          </a:xfrm>
          <a:custGeom>
            <a:avLst/>
            <a:gdLst/>
            <a:ahLst/>
            <a:cxnLst/>
            <a:rect l="l" t="t" r="r" b="b"/>
            <a:pathLst>
              <a:path w="4462723" h="4462723">
                <a:moveTo>
                  <a:pt x="0" y="0"/>
                </a:moveTo>
                <a:lnTo>
                  <a:pt x="4462723" y="0"/>
                </a:lnTo>
                <a:lnTo>
                  <a:pt x="4462723" y="4462723"/>
                </a:lnTo>
                <a:lnTo>
                  <a:pt x="0" y="446272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TextBox 6">
            <a:extLst>
              <a:ext uri="{FF2B5EF4-FFF2-40B4-BE49-F238E27FC236}">
                <a16:creationId xmlns:a16="http://schemas.microsoft.com/office/drawing/2014/main" id="{33D92E1F-6CD2-ECB9-E1E5-31025585684A}"/>
              </a:ext>
            </a:extLst>
          </p:cNvPr>
          <p:cNvSpPr txBox="1"/>
          <p:nvPr/>
        </p:nvSpPr>
        <p:spPr>
          <a:xfrm>
            <a:off x="5484999" y="143415"/>
            <a:ext cx="8110656" cy="1317288"/>
          </a:xfrm>
          <a:prstGeom prst="rect">
            <a:avLst/>
          </a:prstGeom>
        </p:spPr>
        <p:txBody>
          <a:bodyPr lIns="0" tIns="0" rIns="0" bIns="0" rtlCol="0" anchor="t">
            <a:spAutoFit/>
          </a:bodyPr>
          <a:lstStyle/>
          <a:p>
            <a:pPr algn="ctr">
              <a:lnSpc>
                <a:spcPts val="10881"/>
              </a:lnSpc>
              <a:spcBef>
                <a:spcPct val="0"/>
              </a:spcBef>
            </a:pPr>
            <a:r>
              <a:rPr lang="en-US" sz="7772">
                <a:solidFill>
                  <a:srgbClr val="000000"/>
                </a:solidFill>
                <a:latin typeface="Etna Sans Serif"/>
                <a:ea typeface="Etna Sans Serif"/>
                <a:cs typeface="Etna Sans Serif"/>
                <a:sym typeface="Etna Sans Serif"/>
              </a:rPr>
              <a:t>KICK TO TECH</a:t>
            </a:r>
          </a:p>
        </p:txBody>
      </p:sp>
      <p:sp>
        <p:nvSpPr>
          <p:cNvPr id="7" name="TextBox 7">
            <a:extLst>
              <a:ext uri="{FF2B5EF4-FFF2-40B4-BE49-F238E27FC236}">
                <a16:creationId xmlns:a16="http://schemas.microsoft.com/office/drawing/2014/main" id="{ECB715A3-EC48-C91E-FABE-E4A5EE8FE7D6}"/>
              </a:ext>
            </a:extLst>
          </p:cNvPr>
          <p:cNvSpPr txBox="1"/>
          <p:nvPr/>
        </p:nvSpPr>
        <p:spPr>
          <a:xfrm>
            <a:off x="366306" y="9507966"/>
            <a:ext cx="1233893" cy="403957"/>
          </a:xfrm>
          <a:prstGeom prst="rect">
            <a:avLst/>
          </a:prstGeom>
        </p:spPr>
        <p:txBody>
          <a:bodyPr wrap="square" lIns="0" tIns="0" rIns="0" bIns="0" rtlCol="0" anchor="t">
            <a:spAutoFit/>
          </a:bodyPr>
          <a:lstStyle/>
          <a:p>
            <a:pPr algn="ctr">
              <a:lnSpc>
                <a:spcPts val="4177"/>
              </a:lnSpc>
              <a:spcBef>
                <a:spcPct val="0"/>
              </a:spcBef>
            </a:pPr>
            <a:r>
              <a:rPr lang="en-US" sz="2983" dirty="0">
                <a:solidFill>
                  <a:srgbClr val="000000"/>
                </a:solidFill>
                <a:latin typeface="Elika Gorica"/>
                <a:ea typeface="Elika Gorica"/>
                <a:cs typeface="Elika Gorica"/>
                <a:sym typeface="Elika Gorica"/>
              </a:rPr>
              <a:t>Page 5</a:t>
            </a:r>
          </a:p>
        </p:txBody>
      </p:sp>
      <p:sp>
        <p:nvSpPr>
          <p:cNvPr id="9" name="TextBox 8">
            <a:extLst>
              <a:ext uri="{FF2B5EF4-FFF2-40B4-BE49-F238E27FC236}">
                <a16:creationId xmlns:a16="http://schemas.microsoft.com/office/drawing/2014/main" id="{2A55066E-7762-616F-0864-5DEED6956EB0}"/>
              </a:ext>
            </a:extLst>
          </p:cNvPr>
          <p:cNvSpPr txBox="1"/>
          <p:nvPr/>
        </p:nvSpPr>
        <p:spPr>
          <a:xfrm>
            <a:off x="1920326" y="2479949"/>
            <a:ext cx="15240001" cy="7663636"/>
          </a:xfrm>
          <a:prstGeom prst="rect">
            <a:avLst/>
          </a:prstGeom>
          <a:noFill/>
        </p:spPr>
        <p:txBody>
          <a:bodyPr wrap="square">
            <a:spAutoFit/>
          </a:bodyPr>
          <a:lstStyle/>
          <a:p>
            <a:pPr algn="ctr">
              <a:buNone/>
            </a:pPr>
            <a:r>
              <a:rPr lang="en-IN" sz="4400" b="1" dirty="0">
                <a:latin typeface="Cascadia Mono" panose="020B0609020000020004" pitchFamily="49" charset="0"/>
                <a:ea typeface="Cascadia Mono" panose="020B0609020000020004" pitchFamily="49" charset="0"/>
                <a:cs typeface="Cascadia Mono" panose="020B0609020000020004" pitchFamily="49" charset="0"/>
              </a:rPr>
              <a:t>Logistic Regression</a:t>
            </a:r>
          </a:p>
          <a:p>
            <a:pPr algn="ctr">
              <a:buNone/>
            </a:pPr>
            <a:r>
              <a:rPr lang="en-IN" sz="2000" b="1" dirty="0">
                <a:latin typeface="Cascadia Mono" panose="020B0609020000020004" pitchFamily="49" charset="0"/>
                <a:ea typeface="Cascadia Mono" panose="020B0609020000020004" pitchFamily="49" charset="0"/>
                <a:cs typeface="Cascadia Mono" panose="020B0609020000020004" pitchFamily="49" charset="0"/>
              </a:rPr>
              <a:t>(</a:t>
            </a:r>
            <a:r>
              <a:rPr lang="en-IN" sz="2000" dirty="0"/>
              <a:t>Logistic Regression is a machine learning algorithm that predicts a Yes/No outcome based on previous data. In my project, it predicts whether a Netflix subscriber will cancel or continue their subscription.</a:t>
            </a:r>
            <a:r>
              <a:rPr lang="en-IN" sz="2000" b="1" dirty="0">
                <a:latin typeface="Cascadia Mono" panose="020B0609020000020004" pitchFamily="49" charset="0"/>
                <a:ea typeface="Cascadia Mono" panose="020B0609020000020004" pitchFamily="49" charset="0"/>
                <a:cs typeface="Cascadia Mono" panose="020B0609020000020004" pitchFamily="49" charset="0"/>
              </a:rPr>
              <a:t>)</a:t>
            </a:r>
          </a:p>
          <a:p>
            <a:pPr algn="ctr">
              <a:buNone/>
            </a:pPr>
            <a:r>
              <a:rPr lang="en-IN" sz="2800" b="1" dirty="0"/>
              <a:t>Purpose</a:t>
            </a:r>
          </a:p>
          <a:p>
            <a:pPr algn="ctr">
              <a:buNone/>
            </a:pPr>
            <a:r>
              <a:rPr lang="en-IN" sz="2400" dirty="0"/>
              <a:t>Predict whether a subscriber will:</a:t>
            </a:r>
          </a:p>
          <a:p>
            <a:pPr algn="ctr">
              <a:buFont typeface="Arial" panose="020B0604020202020204" pitchFamily="34" charset="0"/>
              <a:buChar char="•"/>
            </a:pPr>
            <a:r>
              <a:rPr lang="en-IN" sz="2400" dirty="0"/>
              <a:t>Continue Subscription </a:t>
            </a:r>
          </a:p>
          <a:p>
            <a:pPr algn="ctr">
              <a:buFont typeface="Arial" panose="020B0604020202020204" pitchFamily="34" charset="0"/>
              <a:buChar char="•"/>
            </a:pPr>
            <a:r>
              <a:rPr lang="en-IN" sz="2400" dirty="0">
                <a:latin typeface="Cascadia Mono" panose="020B0609020000020004" pitchFamily="49" charset="0"/>
                <a:ea typeface="Cascadia Mono" panose="020B0609020000020004" pitchFamily="49" charset="0"/>
                <a:cs typeface="Cascadia Mono" panose="020B0609020000020004" pitchFamily="49" charset="0"/>
              </a:rPr>
              <a:t>Cancel Subscription </a:t>
            </a:r>
          </a:p>
          <a:p>
            <a:pPr algn="ctr">
              <a:buNone/>
            </a:pPr>
            <a:r>
              <a:rPr lang="en-IN" sz="4400" b="1" dirty="0">
                <a:latin typeface="Cascadia Mono" panose="020B0609020000020004" pitchFamily="49" charset="0"/>
                <a:ea typeface="Cascadia Mono" panose="020B0609020000020004" pitchFamily="49" charset="0"/>
                <a:cs typeface="Cascadia Mono" panose="020B0609020000020004" pitchFamily="49" charset="0"/>
              </a:rPr>
              <a:t>Why Logistic Regression?</a:t>
            </a:r>
          </a:p>
          <a:p>
            <a:pPr algn="ctr">
              <a:buFont typeface="Arial" panose="020B0604020202020204" pitchFamily="34" charset="0"/>
              <a:buChar char="•"/>
            </a:pPr>
            <a:r>
              <a:rPr lang="en-IN" sz="2000" dirty="0"/>
              <a:t>Simple to implement </a:t>
            </a:r>
          </a:p>
          <a:p>
            <a:pPr algn="ctr">
              <a:buFont typeface="Arial" panose="020B0604020202020204" pitchFamily="34" charset="0"/>
              <a:buChar char="•"/>
            </a:pPr>
            <a:r>
              <a:rPr lang="en-IN" sz="2000" dirty="0"/>
              <a:t>Suitable for Yes/No predictions </a:t>
            </a:r>
          </a:p>
          <a:p>
            <a:pPr algn="ctr">
              <a:buFont typeface="Arial" panose="020B0604020202020204" pitchFamily="34" charset="0"/>
              <a:buChar char="•"/>
            </a:pPr>
            <a:r>
              <a:rPr lang="en-IN" sz="2000" dirty="0"/>
              <a:t>Fast and efficient </a:t>
            </a:r>
          </a:p>
          <a:p>
            <a:pPr algn="ctr">
              <a:buFont typeface="Arial" panose="020B0604020202020204" pitchFamily="34" charset="0"/>
              <a:buChar char="•"/>
            </a:pPr>
            <a:r>
              <a:rPr lang="en-IN" sz="2000" dirty="0"/>
              <a:t>Easy to understand </a:t>
            </a:r>
          </a:p>
          <a:p>
            <a:pPr algn="ctr">
              <a:buNone/>
            </a:pPr>
            <a:r>
              <a:rPr lang="en-IN" sz="4400" b="1" dirty="0">
                <a:latin typeface="Cascadia Mono" panose="020B0609020000020004" pitchFamily="49" charset="0"/>
                <a:ea typeface="Cascadia Mono" panose="020B0609020000020004" pitchFamily="49" charset="0"/>
                <a:cs typeface="Cascadia Mono" panose="020B0609020000020004" pitchFamily="49" charset="0"/>
              </a:rPr>
              <a:t>Example</a:t>
            </a:r>
          </a:p>
          <a:p>
            <a:pPr algn="ctr">
              <a:buNone/>
            </a:pPr>
            <a:r>
              <a:rPr lang="en-IN" sz="2000" dirty="0"/>
              <a:t>Input:</a:t>
            </a:r>
          </a:p>
          <a:p>
            <a:pPr algn="ctr" rtl="0">
              <a:buNone/>
            </a:pPr>
            <a:r>
              <a:rPr lang="en-IN" sz="2000" dirty="0"/>
              <a:t>Subscription Months = 20</a:t>
            </a:r>
            <a:br>
              <a:rPr lang="en-IN" sz="2000" dirty="0"/>
            </a:br>
            <a:r>
              <a:rPr lang="en-IN" sz="2000" dirty="0"/>
              <a:t>Watch Hours = 120</a:t>
            </a:r>
            <a:br>
              <a:rPr lang="en-IN" sz="2000" dirty="0"/>
            </a:br>
            <a:r>
              <a:rPr lang="en-IN" sz="2000" dirty="0"/>
              <a:t>Logins = 2</a:t>
            </a:r>
            <a:br>
              <a:rPr lang="en-IN" sz="2000" dirty="0"/>
            </a:br>
            <a:r>
              <a:rPr lang="en-IN" sz="2000" dirty="0"/>
              <a:t>Complaints = 0</a:t>
            </a:r>
          </a:p>
          <a:p>
            <a:pPr algn="ctr">
              <a:buNone/>
            </a:pPr>
            <a:r>
              <a:rPr lang="en-IN" sz="2000" dirty="0"/>
              <a:t>Output:</a:t>
            </a:r>
          </a:p>
          <a:p>
            <a:pPr algn="ctr" rtl="0">
              <a:buNone/>
            </a:pPr>
            <a:r>
              <a:rPr lang="en-IN" sz="2000" dirty="0"/>
              <a:t>Continue Subscription</a:t>
            </a:r>
          </a:p>
        </p:txBody>
      </p:sp>
      <p:sp>
        <p:nvSpPr>
          <p:cNvPr id="11" name="TextBox 10">
            <a:extLst>
              <a:ext uri="{FF2B5EF4-FFF2-40B4-BE49-F238E27FC236}">
                <a16:creationId xmlns:a16="http://schemas.microsoft.com/office/drawing/2014/main" id="{66F193A8-8F6A-88B4-E87F-C813D685E420}"/>
              </a:ext>
            </a:extLst>
          </p:cNvPr>
          <p:cNvSpPr txBox="1"/>
          <p:nvPr/>
        </p:nvSpPr>
        <p:spPr>
          <a:xfrm>
            <a:off x="3733800" y="2132388"/>
            <a:ext cx="11152414" cy="369332"/>
          </a:xfrm>
          <a:prstGeom prst="rect">
            <a:avLst/>
          </a:prstGeom>
          <a:noFill/>
        </p:spPr>
        <p:txBody>
          <a:bodyPr wrap="square">
            <a:spAutoFit/>
          </a:bodyPr>
          <a:lstStyle/>
          <a:p>
            <a:r>
              <a:rPr lang="en-IN" dirty="0"/>
              <a:t>Supervised Learning Model</a:t>
            </a:r>
          </a:p>
        </p:txBody>
      </p:sp>
    </p:spTree>
    <p:extLst>
      <p:ext uri="{BB962C8B-B14F-4D97-AF65-F5344CB8AC3E}">
        <p14:creationId xmlns:p14="http://schemas.microsoft.com/office/powerpoint/2010/main" val="2915219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50517-211E-D6FC-0605-E3F315C6973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F47D403-34AA-DA28-02B6-AA1643C724D3}"/>
              </a:ext>
            </a:extLst>
          </p:cNvPr>
          <p:cNvSpPr/>
          <p:nvPr/>
        </p:nvSpPr>
        <p:spPr>
          <a:xfrm rot="1607165">
            <a:off x="16411705" y="6395076"/>
            <a:ext cx="2965121" cy="4727004"/>
          </a:xfrm>
          <a:custGeom>
            <a:avLst/>
            <a:gdLst/>
            <a:ahLst/>
            <a:cxnLst/>
            <a:rect l="l" t="t" r="r" b="b"/>
            <a:pathLst>
              <a:path w="2965121" h="4727004">
                <a:moveTo>
                  <a:pt x="0" y="0"/>
                </a:moveTo>
                <a:lnTo>
                  <a:pt x="2965121" y="0"/>
                </a:lnTo>
                <a:lnTo>
                  <a:pt x="2965121" y="4727004"/>
                </a:lnTo>
                <a:lnTo>
                  <a:pt x="0" y="472700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91D70110-BAA6-BE8C-1D67-5B0CB5004866}"/>
              </a:ext>
            </a:extLst>
          </p:cNvPr>
          <p:cNvSpPr/>
          <p:nvPr/>
        </p:nvSpPr>
        <p:spPr>
          <a:xfrm rot="1607165" flipH="1" flipV="1">
            <a:off x="-1103996" y="-788407"/>
            <a:ext cx="2940606" cy="4687923"/>
          </a:xfrm>
          <a:custGeom>
            <a:avLst/>
            <a:gdLst/>
            <a:ahLst/>
            <a:cxnLst/>
            <a:rect l="l" t="t" r="r" b="b"/>
            <a:pathLst>
              <a:path w="2940606" h="4687923">
                <a:moveTo>
                  <a:pt x="2940606" y="4687923"/>
                </a:moveTo>
                <a:lnTo>
                  <a:pt x="0" y="4687923"/>
                </a:lnTo>
                <a:lnTo>
                  <a:pt x="0" y="0"/>
                </a:lnTo>
                <a:lnTo>
                  <a:pt x="2940606" y="0"/>
                </a:lnTo>
                <a:lnTo>
                  <a:pt x="2940606" y="4687923"/>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a:extLst>
              <a:ext uri="{FF2B5EF4-FFF2-40B4-BE49-F238E27FC236}">
                <a16:creationId xmlns:a16="http://schemas.microsoft.com/office/drawing/2014/main" id="{6322B899-1003-9954-CD50-3F282EFE360A}"/>
              </a:ext>
            </a:extLst>
          </p:cNvPr>
          <p:cNvSpPr/>
          <p:nvPr/>
        </p:nvSpPr>
        <p:spPr>
          <a:xfrm>
            <a:off x="4589652" y="286290"/>
            <a:ext cx="1650505" cy="1650505"/>
          </a:xfrm>
          <a:custGeom>
            <a:avLst/>
            <a:gdLst/>
            <a:ahLst/>
            <a:cxnLst/>
            <a:rect l="l" t="t" r="r" b="b"/>
            <a:pathLst>
              <a:path w="1650505" h="1650505">
                <a:moveTo>
                  <a:pt x="0" y="0"/>
                </a:moveTo>
                <a:lnTo>
                  <a:pt x="1650505" y="0"/>
                </a:lnTo>
                <a:lnTo>
                  <a:pt x="1650505" y="1650505"/>
                </a:lnTo>
                <a:lnTo>
                  <a:pt x="0" y="1650505"/>
                </a:lnTo>
                <a:lnTo>
                  <a:pt x="0" y="0"/>
                </a:lnTo>
                <a:close/>
              </a:path>
            </a:pathLst>
          </a:custGeom>
          <a:blipFill>
            <a:blip r:embed="rId4"/>
            <a:stretch>
              <a:fillRect/>
            </a:stretch>
          </a:blipFill>
        </p:spPr>
      </p:sp>
      <p:sp>
        <p:nvSpPr>
          <p:cNvPr id="5" name="Freeform 5">
            <a:extLst>
              <a:ext uri="{FF2B5EF4-FFF2-40B4-BE49-F238E27FC236}">
                <a16:creationId xmlns:a16="http://schemas.microsoft.com/office/drawing/2014/main" id="{EFABF2E8-77E4-67A1-AB48-EC1A127DEF59}"/>
              </a:ext>
            </a:extLst>
          </p:cNvPr>
          <p:cNvSpPr/>
          <p:nvPr/>
        </p:nvSpPr>
        <p:spPr>
          <a:xfrm rot="2700000">
            <a:off x="7308966" y="-780952"/>
            <a:ext cx="4462723" cy="4462723"/>
          </a:xfrm>
          <a:custGeom>
            <a:avLst/>
            <a:gdLst/>
            <a:ahLst/>
            <a:cxnLst/>
            <a:rect l="l" t="t" r="r" b="b"/>
            <a:pathLst>
              <a:path w="4462723" h="4462723">
                <a:moveTo>
                  <a:pt x="0" y="0"/>
                </a:moveTo>
                <a:lnTo>
                  <a:pt x="4462723" y="0"/>
                </a:lnTo>
                <a:lnTo>
                  <a:pt x="4462723" y="4462723"/>
                </a:lnTo>
                <a:lnTo>
                  <a:pt x="0" y="4462723"/>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TextBox 6">
            <a:extLst>
              <a:ext uri="{FF2B5EF4-FFF2-40B4-BE49-F238E27FC236}">
                <a16:creationId xmlns:a16="http://schemas.microsoft.com/office/drawing/2014/main" id="{AB86CB58-9DB6-C3D6-4FDD-34A2F2865DC3}"/>
              </a:ext>
            </a:extLst>
          </p:cNvPr>
          <p:cNvSpPr txBox="1"/>
          <p:nvPr/>
        </p:nvSpPr>
        <p:spPr>
          <a:xfrm>
            <a:off x="5484999" y="143415"/>
            <a:ext cx="8110656" cy="1317288"/>
          </a:xfrm>
          <a:prstGeom prst="rect">
            <a:avLst/>
          </a:prstGeom>
        </p:spPr>
        <p:txBody>
          <a:bodyPr lIns="0" tIns="0" rIns="0" bIns="0" rtlCol="0" anchor="t">
            <a:spAutoFit/>
          </a:bodyPr>
          <a:lstStyle/>
          <a:p>
            <a:pPr algn="ctr">
              <a:lnSpc>
                <a:spcPts val="10881"/>
              </a:lnSpc>
              <a:spcBef>
                <a:spcPct val="0"/>
              </a:spcBef>
            </a:pPr>
            <a:r>
              <a:rPr lang="en-US" sz="7772">
                <a:solidFill>
                  <a:srgbClr val="000000"/>
                </a:solidFill>
                <a:latin typeface="Etna Sans Serif"/>
                <a:ea typeface="Etna Sans Serif"/>
                <a:cs typeface="Etna Sans Serif"/>
                <a:sym typeface="Etna Sans Serif"/>
              </a:rPr>
              <a:t>KICK TO TECH</a:t>
            </a:r>
          </a:p>
        </p:txBody>
      </p:sp>
      <p:sp>
        <p:nvSpPr>
          <p:cNvPr id="7" name="TextBox 7">
            <a:extLst>
              <a:ext uri="{FF2B5EF4-FFF2-40B4-BE49-F238E27FC236}">
                <a16:creationId xmlns:a16="http://schemas.microsoft.com/office/drawing/2014/main" id="{3DD84695-091A-0743-3F89-A4DC11B8773F}"/>
              </a:ext>
            </a:extLst>
          </p:cNvPr>
          <p:cNvSpPr txBox="1"/>
          <p:nvPr/>
        </p:nvSpPr>
        <p:spPr>
          <a:xfrm>
            <a:off x="366306" y="9507966"/>
            <a:ext cx="1919693" cy="403957"/>
          </a:xfrm>
          <a:prstGeom prst="rect">
            <a:avLst/>
          </a:prstGeom>
        </p:spPr>
        <p:txBody>
          <a:bodyPr wrap="square" lIns="0" tIns="0" rIns="0" bIns="0" rtlCol="0" anchor="t">
            <a:spAutoFit/>
          </a:bodyPr>
          <a:lstStyle/>
          <a:p>
            <a:pPr algn="ctr">
              <a:lnSpc>
                <a:spcPts val="4177"/>
              </a:lnSpc>
              <a:spcBef>
                <a:spcPct val="0"/>
              </a:spcBef>
            </a:pPr>
            <a:r>
              <a:rPr lang="en-US" sz="2983" dirty="0">
                <a:solidFill>
                  <a:srgbClr val="000000"/>
                </a:solidFill>
                <a:latin typeface="Elika Gorica"/>
                <a:ea typeface="Elika Gorica"/>
                <a:cs typeface="Elika Gorica"/>
                <a:sym typeface="Elika Gorica"/>
              </a:rPr>
              <a:t>Page 6</a:t>
            </a:r>
          </a:p>
        </p:txBody>
      </p:sp>
      <p:sp>
        <p:nvSpPr>
          <p:cNvPr id="9" name="TextBox 8">
            <a:extLst>
              <a:ext uri="{FF2B5EF4-FFF2-40B4-BE49-F238E27FC236}">
                <a16:creationId xmlns:a16="http://schemas.microsoft.com/office/drawing/2014/main" id="{55FEE818-ACB8-FA8D-6759-61407B68BDCD}"/>
              </a:ext>
            </a:extLst>
          </p:cNvPr>
          <p:cNvSpPr txBox="1"/>
          <p:nvPr/>
        </p:nvSpPr>
        <p:spPr>
          <a:xfrm>
            <a:off x="1485900" y="2316101"/>
            <a:ext cx="15316199" cy="7725192"/>
          </a:xfrm>
          <a:prstGeom prst="rect">
            <a:avLst/>
          </a:prstGeom>
          <a:noFill/>
        </p:spPr>
        <p:txBody>
          <a:bodyPr wrap="square">
            <a:spAutoFit/>
          </a:bodyPr>
          <a:lstStyle/>
          <a:p>
            <a:pPr algn="ctr">
              <a:buNone/>
            </a:pPr>
            <a:r>
              <a:rPr lang="en-IN" sz="4400" b="1" dirty="0">
                <a:latin typeface="Cascadia Mono" panose="020B0609020000020004" pitchFamily="49" charset="0"/>
                <a:ea typeface="Cascadia Mono" panose="020B0609020000020004" pitchFamily="49" charset="0"/>
                <a:cs typeface="Cascadia Mono" panose="020B0609020000020004" pitchFamily="49" charset="0"/>
              </a:rPr>
              <a:t>K-Means Clustering</a:t>
            </a:r>
          </a:p>
          <a:p>
            <a:pPr algn="ctr">
              <a:buNone/>
            </a:pPr>
            <a:r>
              <a:rPr lang="en-IN" sz="2800" b="1" dirty="0">
                <a:latin typeface="Cascadia Mono" panose="020B0609020000020004" pitchFamily="49" charset="0"/>
                <a:ea typeface="Cascadia Mono" panose="020B0609020000020004" pitchFamily="49" charset="0"/>
                <a:cs typeface="Cascadia Mono" panose="020B0609020000020004" pitchFamily="49" charset="0"/>
              </a:rPr>
              <a:t>(</a:t>
            </a:r>
            <a:r>
              <a:rPr lang="en-IN" sz="2800" dirty="0"/>
              <a:t>K-Means Clustering is an unsupervised machine learning algorithm that groups similar Netflix subscribers together based on their watch hours and login activity. In this project, it is used to identify less active and more active users.</a:t>
            </a:r>
            <a:r>
              <a:rPr lang="en-IN" sz="2800" b="1" dirty="0">
                <a:latin typeface="Cascadia Mono" panose="020B0609020000020004" pitchFamily="49" charset="0"/>
                <a:ea typeface="Cascadia Mono" panose="020B0609020000020004" pitchFamily="49" charset="0"/>
                <a:cs typeface="Cascadia Mono" panose="020B0609020000020004" pitchFamily="49" charset="0"/>
              </a:rPr>
              <a:t>)</a:t>
            </a:r>
          </a:p>
          <a:p>
            <a:pPr algn="ctr">
              <a:buNone/>
            </a:pPr>
            <a:r>
              <a:rPr lang="en-IN" sz="3600" b="1" dirty="0"/>
              <a:t>Purpose</a:t>
            </a:r>
          </a:p>
          <a:p>
            <a:pPr algn="ctr">
              <a:buNone/>
            </a:pPr>
            <a:r>
              <a:rPr lang="en-IN" sz="2800" dirty="0"/>
              <a:t>Group subscribers according to their activity level.</a:t>
            </a:r>
          </a:p>
          <a:p>
            <a:pPr algn="ctr">
              <a:buNone/>
            </a:pPr>
            <a:r>
              <a:rPr lang="en-IN" sz="3600" b="1" dirty="0"/>
              <a:t>Features Used</a:t>
            </a:r>
          </a:p>
          <a:p>
            <a:pPr algn="ctr">
              <a:buFont typeface="Arial" panose="020B0604020202020204" pitchFamily="34" charset="0"/>
              <a:buChar char="•"/>
            </a:pPr>
            <a:r>
              <a:rPr lang="en-IN" sz="2800" dirty="0" err="1"/>
              <a:t>WatchHours</a:t>
            </a:r>
            <a:r>
              <a:rPr lang="en-IN" sz="2800" dirty="0"/>
              <a:t> </a:t>
            </a:r>
          </a:p>
          <a:p>
            <a:pPr algn="ctr">
              <a:buFont typeface="Arial" panose="020B0604020202020204" pitchFamily="34" charset="0"/>
              <a:buChar char="•"/>
            </a:pPr>
            <a:r>
              <a:rPr lang="en-IN" sz="2800" dirty="0"/>
              <a:t>Logins </a:t>
            </a:r>
          </a:p>
          <a:p>
            <a:pPr algn="ctr">
              <a:buNone/>
            </a:pPr>
            <a:r>
              <a:rPr lang="en-IN" sz="3600" b="1" dirty="0"/>
              <a:t>Groups Created</a:t>
            </a:r>
          </a:p>
          <a:p>
            <a:pPr algn="ctr">
              <a:buFont typeface="Arial" panose="020B0604020202020204" pitchFamily="34" charset="0"/>
              <a:buChar char="•"/>
            </a:pPr>
            <a:r>
              <a:rPr lang="en-IN" sz="2800" dirty="0"/>
              <a:t>Less Active Users </a:t>
            </a:r>
          </a:p>
          <a:p>
            <a:pPr algn="ctr">
              <a:buFont typeface="Arial" panose="020B0604020202020204" pitchFamily="34" charset="0"/>
              <a:buChar char="•"/>
            </a:pPr>
            <a:r>
              <a:rPr lang="en-IN" sz="2800" dirty="0"/>
              <a:t>More Active Users </a:t>
            </a:r>
          </a:p>
          <a:p>
            <a:pPr algn="ctr">
              <a:buNone/>
            </a:pPr>
            <a:r>
              <a:rPr lang="en-IN" sz="3600" b="1" dirty="0"/>
              <a:t>Why K-Means?</a:t>
            </a:r>
          </a:p>
          <a:p>
            <a:pPr algn="ctr">
              <a:buFont typeface="Arial" panose="020B0604020202020204" pitchFamily="34" charset="0"/>
              <a:buChar char="•"/>
            </a:pPr>
            <a:r>
              <a:rPr lang="en-IN" sz="2800" dirty="0"/>
              <a:t>Simple clustering algorithm </a:t>
            </a:r>
          </a:p>
          <a:p>
            <a:pPr algn="ctr">
              <a:buFont typeface="Arial" panose="020B0604020202020204" pitchFamily="34" charset="0"/>
              <a:buChar char="•"/>
            </a:pPr>
            <a:r>
              <a:rPr lang="en-IN" sz="2800" dirty="0"/>
              <a:t>No output labels required </a:t>
            </a:r>
          </a:p>
          <a:p>
            <a:pPr algn="ctr">
              <a:buFont typeface="Arial" panose="020B0604020202020204" pitchFamily="34" charset="0"/>
              <a:buChar char="•"/>
            </a:pPr>
            <a:r>
              <a:rPr lang="en-IN" sz="2800" dirty="0"/>
              <a:t>Helps identify user </a:t>
            </a:r>
            <a:r>
              <a:rPr lang="en-IN" sz="2800" dirty="0" err="1"/>
              <a:t>behavior</a:t>
            </a:r>
            <a:r>
              <a:rPr lang="en-IN" sz="2800" dirty="0"/>
              <a:t> patterns</a:t>
            </a:r>
          </a:p>
        </p:txBody>
      </p:sp>
      <p:sp>
        <p:nvSpPr>
          <p:cNvPr id="11" name="TextBox 10">
            <a:extLst>
              <a:ext uri="{FF2B5EF4-FFF2-40B4-BE49-F238E27FC236}">
                <a16:creationId xmlns:a16="http://schemas.microsoft.com/office/drawing/2014/main" id="{1DB04814-7060-86FB-3BF6-2CBB79FD84DC}"/>
              </a:ext>
            </a:extLst>
          </p:cNvPr>
          <p:cNvSpPr txBox="1"/>
          <p:nvPr/>
        </p:nvSpPr>
        <p:spPr>
          <a:xfrm>
            <a:off x="4353239" y="2015731"/>
            <a:ext cx="11152414" cy="369332"/>
          </a:xfrm>
          <a:prstGeom prst="rect">
            <a:avLst/>
          </a:prstGeom>
          <a:noFill/>
        </p:spPr>
        <p:txBody>
          <a:bodyPr wrap="square">
            <a:spAutoFit/>
          </a:bodyPr>
          <a:lstStyle/>
          <a:p>
            <a:r>
              <a:rPr lang="en-IN" dirty="0"/>
              <a:t>Unsupervised Learning Model</a:t>
            </a:r>
          </a:p>
        </p:txBody>
      </p:sp>
    </p:spTree>
    <p:extLst>
      <p:ext uri="{BB962C8B-B14F-4D97-AF65-F5344CB8AC3E}">
        <p14:creationId xmlns:p14="http://schemas.microsoft.com/office/powerpoint/2010/main" val="927140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F72DF-457A-9195-76AB-0EF5D6B6411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51EFC04-728A-F352-3FCF-3BEBB12AA5F3}"/>
              </a:ext>
            </a:extLst>
          </p:cNvPr>
          <p:cNvSpPr/>
          <p:nvPr/>
        </p:nvSpPr>
        <p:spPr>
          <a:xfrm rot="1607165">
            <a:off x="16411705" y="6395076"/>
            <a:ext cx="2965121" cy="4727004"/>
          </a:xfrm>
          <a:custGeom>
            <a:avLst/>
            <a:gdLst/>
            <a:ahLst/>
            <a:cxnLst/>
            <a:rect l="l" t="t" r="r" b="b"/>
            <a:pathLst>
              <a:path w="2965121" h="4727004">
                <a:moveTo>
                  <a:pt x="0" y="0"/>
                </a:moveTo>
                <a:lnTo>
                  <a:pt x="2965121" y="0"/>
                </a:lnTo>
                <a:lnTo>
                  <a:pt x="2965121" y="4727004"/>
                </a:lnTo>
                <a:lnTo>
                  <a:pt x="0" y="472700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a:extLst>
              <a:ext uri="{FF2B5EF4-FFF2-40B4-BE49-F238E27FC236}">
                <a16:creationId xmlns:a16="http://schemas.microsoft.com/office/drawing/2014/main" id="{A4FE3939-60DD-4AE9-DEDF-C5C81B45F1FF}"/>
              </a:ext>
            </a:extLst>
          </p:cNvPr>
          <p:cNvSpPr/>
          <p:nvPr/>
        </p:nvSpPr>
        <p:spPr>
          <a:xfrm rot="1607165" flipH="1" flipV="1">
            <a:off x="-1103996" y="-788407"/>
            <a:ext cx="2940606" cy="4687923"/>
          </a:xfrm>
          <a:custGeom>
            <a:avLst/>
            <a:gdLst/>
            <a:ahLst/>
            <a:cxnLst/>
            <a:rect l="l" t="t" r="r" b="b"/>
            <a:pathLst>
              <a:path w="2940606" h="4687923">
                <a:moveTo>
                  <a:pt x="2940606" y="4687923"/>
                </a:moveTo>
                <a:lnTo>
                  <a:pt x="0" y="4687923"/>
                </a:lnTo>
                <a:lnTo>
                  <a:pt x="0" y="0"/>
                </a:lnTo>
                <a:lnTo>
                  <a:pt x="2940606" y="0"/>
                </a:lnTo>
                <a:lnTo>
                  <a:pt x="2940606" y="4687923"/>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a:extLst>
              <a:ext uri="{FF2B5EF4-FFF2-40B4-BE49-F238E27FC236}">
                <a16:creationId xmlns:a16="http://schemas.microsoft.com/office/drawing/2014/main" id="{4757711A-A6EE-7C0A-99A9-4832C0ACDA2F}"/>
              </a:ext>
            </a:extLst>
          </p:cNvPr>
          <p:cNvSpPr/>
          <p:nvPr/>
        </p:nvSpPr>
        <p:spPr>
          <a:xfrm>
            <a:off x="4589652" y="286290"/>
            <a:ext cx="1650505" cy="1650505"/>
          </a:xfrm>
          <a:custGeom>
            <a:avLst/>
            <a:gdLst/>
            <a:ahLst/>
            <a:cxnLst/>
            <a:rect l="l" t="t" r="r" b="b"/>
            <a:pathLst>
              <a:path w="1650505" h="1650505">
                <a:moveTo>
                  <a:pt x="0" y="0"/>
                </a:moveTo>
                <a:lnTo>
                  <a:pt x="1650505" y="0"/>
                </a:lnTo>
                <a:lnTo>
                  <a:pt x="1650505" y="1650505"/>
                </a:lnTo>
                <a:lnTo>
                  <a:pt x="0" y="1650505"/>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97FE443F-96E5-3B3B-FB35-8E16E0B6913C}"/>
              </a:ext>
            </a:extLst>
          </p:cNvPr>
          <p:cNvSpPr/>
          <p:nvPr/>
        </p:nvSpPr>
        <p:spPr>
          <a:xfrm rot="2700000">
            <a:off x="7308966" y="-780952"/>
            <a:ext cx="4462723" cy="4462723"/>
          </a:xfrm>
          <a:custGeom>
            <a:avLst/>
            <a:gdLst/>
            <a:ahLst/>
            <a:cxnLst/>
            <a:rect l="l" t="t" r="r" b="b"/>
            <a:pathLst>
              <a:path w="4462723" h="4462723">
                <a:moveTo>
                  <a:pt x="0" y="0"/>
                </a:moveTo>
                <a:lnTo>
                  <a:pt x="4462723" y="0"/>
                </a:lnTo>
                <a:lnTo>
                  <a:pt x="4462723" y="4462723"/>
                </a:lnTo>
                <a:lnTo>
                  <a:pt x="0" y="446272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TextBox 6">
            <a:extLst>
              <a:ext uri="{FF2B5EF4-FFF2-40B4-BE49-F238E27FC236}">
                <a16:creationId xmlns:a16="http://schemas.microsoft.com/office/drawing/2014/main" id="{FF6060CF-C73F-BCF4-202D-4CEB53B3129D}"/>
              </a:ext>
            </a:extLst>
          </p:cNvPr>
          <p:cNvSpPr txBox="1"/>
          <p:nvPr/>
        </p:nvSpPr>
        <p:spPr>
          <a:xfrm>
            <a:off x="5484999" y="143415"/>
            <a:ext cx="8110656" cy="1317288"/>
          </a:xfrm>
          <a:prstGeom prst="rect">
            <a:avLst/>
          </a:prstGeom>
        </p:spPr>
        <p:txBody>
          <a:bodyPr lIns="0" tIns="0" rIns="0" bIns="0" rtlCol="0" anchor="t">
            <a:spAutoFit/>
          </a:bodyPr>
          <a:lstStyle/>
          <a:p>
            <a:pPr algn="ctr">
              <a:lnSpc>
                <a:spcPts val="10881"/>
              </a:lnSpc>
              <a:spcBef>
                <a:spcPct val="0"/>
              </a:spcBef>
            </a:pPr>
            <a:r>
              <a:rPr lang="en-US" sz="7772">
                <a:solidFill>
                  <a:srgbClr val="000000"/>
                </a:solidFill>
                <a:latin typeface="Etna Sans Serif"/>
                <a:ea typeface="Etna Sans Serif"/>
                <a:cs typeface="Etna Sans Serif"/>
                <a:sym typeface="Etna Sans Serif"/>
              </a:rPr>
              <a:t>KICK TO TECH</a:t>
            </a:r>
          </a:p>
        </p:txBody>
      </p:sp>
      <p:sp>
        <p:nvSpPr>
          <p:cNvPr id="7" name="TextBox 7">
            <a:extLst>
              <a:ext uri="{FF2B5EF4-FFF2-40B4-BE49-F238E27FC236}">
                <a16:creationId xmlns:a16="http://schemas.microsoft.com/office/drawing/2014/main" id="{470E8710-6C03-01A3-7ED8-12D0140A41A6}"/>
              </a:ext>
            </a:extLst>
          </p:cNvPr>
          <p:cNvSpPr txBox="1"/>
          <p:nvPr/>
        </p:nvSpPr>
        <p:spPr>
          <a:xfrm>
            <a:off x="366306" y="9507966"/>
            <a:ext cx="1462493" cy="403957"/>
          </a:xfrm>
          <a:prstGeom prst="rect">
            <a:avLst/>
          </a:prstGeom>
        </p:spPr>
        <p:txBody>
          <a:bodyPr wrap="square" lIns="0" tIns="0" rIns="0" bIns="0" rtlCol="0" anchor="t">
            <a:spAutoFit/>
          </a:bodyPr>
          <a:lstStyle/>
          <a:p>
            <a:pPr algn="ctr">
              <a:lnSpc>
                <a:spcPts val="4177"/>
              </a:lnSpc>
              <a:spcBef>
                <a:spcPct val="0"/>
              </a:spcBef>
            </a:pPr>
            <a:r>
              <a:rPr lang="en-US" sz="2983" dirty="0">
                <a:solidFill>
                  <a:srgbClr val="000000"/>
                </a:solidFill>
                <a:latin typeface="Elika Gorica"/>
                <a:ea typeface="Elika Gorica"/>
                <a:cs typeface="Elika Gorica"/>
                <a:sym typeface="Elika Gorica"/>
              </a:rPr>
              <a:t>Page 7</a:t>
            </a:r>
          </a:p>
        </p:txBody>
      </p:sp>
      <p:sp>
        <p:nvSpPr>
          <p:cNvPr id="17" name="TextBox 16">
            <a:extLst>
              <a:ext uri="{FF2B5EF4-FFF2-40B4-BE49-F238E27FC236}">
                <a16:creationId xmlns:a16="http://schemas.microsoft.com/office/drawing/2014/main" id="{60E4B6B4-B799-7FB8-5193-BC156A4F88F7}"/>
              </a:ext>
            </a:extLst>
          </p:cNvPr>
          <p:cNvSpPr txBox="1"/>
          <p:nvPr/>
        </p:nvSpPr>
        <p:spPr>
          <a:xfrm>
            <a:off x="4643079" y="1748631"/>
            <a:ext cx="9128157" cy="8463855"/>
          </a:xfrm>
          <a:prstGeom prst="rect">
            <a:avLst/>
          </a:prstGeom>
          <a:noFill/>
        </p:spPr>
        <p:txBody>
          <a:bodyPr wrap="square">
            <a:spAutoFit/>
          </a:bodyPr>
          <a:lstStyle/>
          <a:p>
            <a:pPr algn="ctr"/>
            <a:r>
              <a:rPr lang="en-IN" sz="3200" dirty="0">
                <a:latin typeface="Cascadia Mono" panose="020B0609020000020004" pitchFamily="49" charset="0"/>
                <a:ea typeface="Cascadia Mono" panose="020B0609020000020004" pitchFamily="49" charset="0"/>
                <a:cs typeface="Cascadia Mono" panose="020B0609020000020004" pitchFamily="49" charset="0"/>
              </a:rPr>
              <a:t>Work Flow!!</a:t>
            </a:r>
          </a:p>
          <a:p>
            <a:pPr algn="ctr"/>
            <a:endParaRPr lang="en-IN" sz="3200" dirty="0">
              <a:latin typeface="Cascadia Mono" panose="020B0609020000020004" pitchFamily="49" charset="0"/>
              <a:ea typeface="Cascadia Mono" panose="020B0609020000020004" pitchFamily="49" charset="0"/>
              <a:cs typeface="Cascadia Mono" panose="020B0609020000020004" pitchFamily="49" charset="0"/>
            </a:endParaRPr>
          </a:p>
          <a:p>
            <a:pPr algn="ctr"/>
            <a:r>
              <a:rPr lang="en-IN" sz="3200" dirty="0">
                <a:latin typeface="Cascadia Mono" panose="020B0609020000020004" pitchFamily="49" charset="0"/>
                <a:ea typeface="Cascadia Mono" panose="020B0609020000020004" pitchFamily="49" charset="0"/>
                <a:cs typeface="Cascadia Mono" panose="020B0609020000020004" pitchFamily="49" charset="0"/>
              </a:rPr>
              <a:t>Dataset</a:t>
            </a:r>
            <a:br>
              <a:rPr lang="en-IN" sz="3200" dirty="0">
                <a:latin typeface="Cascadia Mono" panose="020B0609020000020004" pitchFamily="49" charset="0"/>
                <a:ea typeface="Cascadia Mono" panose="020B0609020000020004" pitchFamily="49" charset="0"/>
                <a:cs typeface="Cascadia Mono" panose="020B0609020000020004" pitchFamily="49" charset="0"/>
              </a:rPr>
            </a:br>
            <a:r>
              <a:rPr lang="en-IN" sz="3200" dirty="0">
                <a:latin typeface="Cascadia Mono" panose="020B0609020000020004" pitchFamily="49" charset="0"/>
                <a:ea typeface="Cascadia Mono" panose="020B0609020000020004" pitchFamily="49" charset="0"/>
                <a:cs typeface="Cascadia Mono" panose="020B0609020000020004" pitchFamily="49" charset="0"/>
              </a:rPr>
              <a:t>↓</a:t>
            </a:r>
            <a:br>
              <a:rPr lang="en-IN" sz="3200" dirty="0">
                <a:latin typeface="Cascadia Mono" panose="020B0609020000020004" pitchFamily="49" charset="0"/>
                <a:ea typeface="Cascadia Mono" panose="020B0609020000020004" pitchFamily="49" charset="0"/>
                <a:cs typeface="Cascadia Mono" panose="020B0609020000020004" pitchFamily="49" charset="0"/>
              </a:rPr>
            </a:br>
            <a:r>
              <a:rPr lang="en-IN" sz="3200" dirty="0">
                <a:latin typeface="Cascadia Mono" panose="020B0609020000020004" pitchFamily="49" charset="0"/>
                <a:ea typeface="Cascadia Mono" panose="020B0609020000020004" pitchFamily="49" charset="0"/>
                <a:cs typeface="Cascadia Mono" panose="020B0609020000020004" pitchFamily="49" charset="0"/>
              </a:rPr>
              <a:t>Data Loading</a:t>
            </a:r>
            <a:br>
              <a:rPr lang="en-IN" sz="3200" dirty="0">
                <a:latin typeface="Cascadia Mono" panose="020B0609020000020004" pitchFamily="49" charset="0"/>
                <a:ea typeface="Cascadia Mono" panose="020B0609020000020004" pitchFamily="49" charset="0"/>
                <a:cs typeface="Cascadia Mono" panose="020B0609020000020004" pitchFamily="49" charset="0"/>
              </a:rPr>
            </a:br>
            <a:r>
              <a:rPr lang="en-IN" sz="3200" dirty="0">
                <a:latin typeface="Cascadia Mono" panose="020B0609020000020004" pitchFamily="49" charset="0"/>
                <a:ea typeface="Cascadia Mono" panose="020B0609020000020004" pitchFamily="49" charset="0"/>
                <a:cs typeface="Cascadia Mono" panose="020B0609020000020004" pitchFamily="49" charset="0"/>
              </a:rPr>
              <a:t>↓</a:t>
            </a:r>
            <a:br>
              <a:rPr lang="en-IN" sz="3200" dirty="0">
                <a:latin typeface="Cascadia Mono" panose="020B0609020000020004" pitchFamily="49" charset="0"/>
                <a:ea typeface="Cascadia Mono" panose="020B0609020000020004" pitchFamily="49" charset="0"/>
                <a:cs typeface="Cascadia Mono" panose="020B0609020000020004" pitchFamily="49" charset="0"/>
              </a:rPr>
            </a:br>
            <a:r>
              <a:rPr lang="en-IN" sz="3200" dirty="0">
                <a:latin typeface="Cascadia Mono" panose="020B0609020000020004" pitchFamily="49" charset="0"/>
                <a:ea typeface="Cascadia Mono" panose="020B0609020000020004" pitchFamily="49" charset="0"/>
                <a:cs typeface="Cascadia Mono" panose="020B0609020000020004" pitchFamily="49" charset="0"/>
              </a:rPr>
              <a:t>Logistic Regression Training</a:t>
            </a:r>
            <a:br>
              <a:rPr lang="en-IN" sz="3200" dirty="0">
                <a:latin typeface="Cascadia Mono" panose="020B0609020000020004" pitchFamily="49" charset="0"/>
                <a:ea typeface="Cascadia Mono" panose="020B0609020000020004" pitchFamily="49" charset="0"/>
                <a:cs typeface="Cascadia Mono" panose="020B0609020000020004" pitchFamily="49" charset="0"/>
              </a:rPr>
            </a:br>
            <a:r>
              <a:rPr lang="en-IN" sz="3200" dirty="0">
                <a:latin typeface="Cascadia Mono" panose="020B0609020000020004" pitchFamily="49" charset="0"/>
                <a:ea typeface="Cascadia Mono" panose="020B0609020000020004" pitchFamily="49" charset="0"/>
                <a:cs typeface="Cascadia Mono" panose="020B0609020000020004" pitchFamily="49" charset="0"/>
              </a:rPr>
              <a:t>↓</a:t>
            </a:r>
            <a:br>
              <a:rPr lang="en-IN" sz="3200" dirty="0">
                <a:latin typeface="Cascadia Mono" panose="020B0609020000020004" pitchFamily="49" charset="0"/>
                <a:ea typeface="Cascadia Mono" panose="020B0609020000020004" pitchFamily="49" charset="0"/>
                <a:cs typeface="Cascadia Mono" panose="020B0609020000020004" pitchFamily="49" charset="0"/>
              </a:rPr>
            </a:br>
            <a:r>
              <a:rPr lang="en-IN" sz="3200" dirty="0">
                <a:latin typeface="Cascadia Mono" panose="020B0609020000020004" pitchFamily="49" charset="0"/>
                <a:ea typeface="Cascadia Mono" panose="020B0609020000020004" pitchFamily="49" charset="0"/>
                <a:cs typeface="Cascadia Mono" panose="020B0609020000020004" pitchFamily="49" charset="0"/>
              </a:rPr>
              <a:t>User Input</a:t>
            </a:r>
            <a:br>
              <a:rPr lang="en-IN" sz="3200" dirty="0">
                <a:latin typeface="Cascadia Mono" panose="020B0609020000020004" pitchFamily="49" charset="0"/>
                <a:ea typeface="Cascadia Mono" panose="020B0609020000020004" pitchFamily="49" charset="0"/>
                <a:cs typeface="Cascadia Mono" panose="020B0609020000020004" pitchFamily="49" charset="0"/>
              </a:rPr>
            </a:br>
            <a:r>
              <a:rPr lang="en-IN" sz="3200" dirty="0">
                <a:latin typeface="Cascadia Mono" panose="020B0609020000020004" pitchFamily="49" charset="0"/>
                <a:ea typeface="Cascadia Mono" panose="020B0609020000020004" pitchFamily="49" charset="0"/>
                <a:cs typeface="Cascadia Mono" panose="020B0609020000020004" pitchFamily="49" charset="0"/>
              </a:rPr>
              <a:t>↓</a:t>
            </a:r>
            <a:br>
              <a:rPr lang="en-IN" sz="3200" dirty="0">
                <a:latin typeface="Cascadia Mono" panose="020B0609020000020004" pitchFamily="49" charset="0"/>
                <a:ea typeface="Cascadia Mono" panose="020B0609020000020004" pitchFamily="49" charset="0"/>
                <a:cs typeface="Cascadia Mono" panose="020B0609020000020004" pitchFamily="49" charset="0"/>
              </a:rPr>
            </a:br>
            <a:r>
              <a:rPr lang="en-IN" sz="3200" dirty="0">
                <a:latin typeface="Cascadia Mono" panose="020B0609020000020004" pitchFamily="49" charset="0"/>
                <a:ea typeface="Cascadia Mono" panose="020B0609020000020004" pitchFamily="49" charset="0"/>
                <a:cs typeface="Cascadia Mono" panose="020B0609020000020004" pitchFamily="49" charset="0"/>
              </a:rPr>
              <a:t>Churn Prediction</a:t>
            </a:r>
            <a:br>
              <a:rPr lang="en-IN" sz="3200" dirty="0">
                <a:latin typeface="Cascadia Mono" panose="020B0609020000020004" pitchFamily="49" charset="0"/>
                <a:ea typeface="Cascadia Mono" panose="020B0609020000020004" pitchFamily="49" charset="0"/>
                <a:cs typeface="Cascadia Mono" panose="020B0609020000020004" pitchFamily="49" charset="0"/>
              </a:rPr>
            </a:br>
            <a:r>
              <a:rPr lang="en-IN" sz="3200" dirty="0">
                <a:latin typeface="Cascadia Mono" panose="020B0609020000020004" pitchFamily="49" charset="0"/>
                <a:ea typeface="Cascadia Mono" panose="020B0609020000020004" pitchFamily="49" charset="0"/>
                <a:cs typeface="Cascadia Mono" panose="020B0609020000020004" pitchFamily="49" charset="0"/>
              </a:rPr>
              <a:t>↓</a:t>
            </a:r>
            <a:br>
              <a:rPr lang="en-IN" sz="3200" dirty="0">
                <a:latin typeface="Cascadia Mono" panose="020B0609020000020004" pitchFamily="49" charset="0"/>
                <a:ea typeface="Cascadia Mono" panose="020B0609020000020004" pitchFamily="49" charset="0"/>
                <a:cs typeface="Cascadia Mono" panose="020B0609020000020004" pitchFamily="49" charset="0"/>
              </a:rPr>
            </a:br>
            <a:r>
              <a:rPr lang="en-IN" sz="3200" dirty="0">
                <a:latin typeface="Cascadia Mono" panose="020B0609020000020004" pitchFamily="49" charset="0"/>
                <a:ea typeface="Cascadia Mono" panose="020B0609020000020004" pitchFamily="49" charset="0"/>
                <a:cs typeface="Cascadia Mono" panose="020B0609020000020004" pitchFamily="49" charset="0"/>
              </a:rPr>
              <a:t>K-Means Training</a:t>
            </a:r>
            <a:br>
              <a:rPr lang="en-IN" sz="3200" dirty="0">
                <a:latin typeface="Cascadia Mono" panose="020B0609020000020004" pitchFamily="49" charset="0"/>
                <a:ea typeface="Cascadia Mono" panose="020B0609020000020004" pitchFamily="49" charset="0"/>
                <a:cs typeface="Cascadia Mono" panose="020B0609020000020004" pitchFamily="49" charset="0"/>
              </a:rPr>
            </a:br>
            <a:r>
              <a:rPr lang="en-IN" sz="3200" dirty="0">
                <a:latin typeface="Cascadia Mono" panose="020B0609020000020004" pitchFamily="49" charset="0"/>
                <a:ea typeface="Cascadia Mono" panose="020B0609020000020004" pitchFamily="49" charset="0"/>
                <a:cs typeface="Cascadia Mono" panose="020B0609020000020004" pitchFamily="49" charset="0"/>
              </a:rPr>
              <a:t>↓</a:t>
            </a:r>
            <a:br>
              <a:rPr lang="en-IN" sz="3200" dirty="0">
                <a:latin typeface="Cascadia Mono" panose="020B0609020000020004" pitchFamily="49" charset="0"/>
                <a:ea typeface="Cascadia Mono" panose="020B0609020000020004" pitchFamily="49" charset="0"/>
                <a:cs typeface="Cascadia Mono" panose="020B0609020000020004" pitchFamily="49" charset="0"/>
              </a:rPr>
            </a:br>
            <a:r>
              <a:rPr lang="en-IN" sz="3200" dirty="0">
                <a:latin typeface="Cascadia Mono" panose="020B0609020000020004" pitchFamily="49" charset="0"/>
                <a:ea typeface="Cascadia Mono" panose="020B0609020000020004" pitchFamily="49" charset="0"/>
                <a:cs typeface="Cascadia Mono" panose="020B0609020000020004" pitchFamily="49" charset="0"/>
              </a:rPr>
              <a:t>User Clustering</a:t>
            </a:r>
            <a:br>
              <a:rPr lang="en-IN" sz="3200" dirty="0">
                <a:latin typeface="Cascadia Mono" panose="020B0609020000020004" pitchFamily="49" charset="0"/>
                <a:ea typeface="Cascadia Mono" panose="020B0609020000020004" pitchFamily="49" charset="0"/>
                <a:cs typeface="Cascadia Mono" panose="020B0609020000020004" pitchFamily="49" charset="0"/>
              </a:rPr>
            </a:br>
            <a:r>
              <a:rPr lang="en-IN" sz="3200" dirty="0">
                <a:latin typeface="Cascadia Mono" panose="020B0609020000020004" pitchFamily="49" charset="0"/>
                <a:ea typeface="Cascadia Mono" panose="020B0609020000020004" pitchFamily="49" charset="0"/>
                <a:cs typeface="Cascadia Mono" panose="020B0609020000020004" pitchFamily="49" charset="0"/>
              </a:rPr>
              <a:t>↓</a:t>
            </a:r>
            <a:br>
              <a:rPr lang="en-IN" sz="3200" dirty="0">
                <a:latin typeface="Cascadia Mono" panose="020B0609020000020004" pitchFamily="49" charset="0"/>
                <a:ea typeface="Cascadia Mono" panose="020B0609020000020004" pitchFamily="49" charset="0"/>
                <a:cs typeface="Cascadia Mono" panose="020B0609020000020004" pitchFamily="49" charset="0"/>
              </a:rPr>
            </a:br>
            <a:r>
              <a:rPr lang="en-IN" sz="3200" dirty="0">
                <a:latin typeface="Cascadia Mono" panose="020B0609020000020004" pitchFamily="49" charset="0"/>
                <a:ea typeface="Cascadia Mono" panose="020B0609020000020004" pitchFamily="49" charset="0"/>
                <a:cs typeface="Cascadia Mono" panose="020B0609020000020004" pitchFamily="49" charset="0"/>
              </a:rPr>
              <a:t>Final Result</a:t>
            </a:r>
          </a:p>
        </p:txBody>
      </p:sp>
      <p:sp>
        <p:nvSpPr>
          <p:cNvPr id="19" name="TextBox 18">
            <a:extLst>
              <a:ext uri="{FF2B5EF4-FFF2-40B4-BE49-F238E27FC236}">
                <a16:creationId xmlns:a16="http://schemas.microsoft.com/office/drawing/2014/main" id="{6FF3C9A4-AFC1-0F65-58C6-2A38FF6D5D64}"/>
              </a:ext>
            </a:extLst>
          </p:cNvPr>
          <p:cNvSpPr txBox="1"/>
          <p:nvPr/>
        </p:nvSpPr>
        <p:spPr>
          <a:xfrm>
            <a:off x="2735171" y="1710338"/>
            <a:ext cx="11152414" cy="369332"/>
          </a:xfrm>
          <a:prstGeom prst="rect">
            <a:avLst/>
          </a:prstGeom>
          <a:noFill/>
        </p:spPr>
        <p:txBody>
          <a:bodyPr wrap="square">
            <a:spAutoFit/>
          </a:bodyPr>
          <a:lstStyle/>
          <a:p>
            <a:r>
              <a:rPr lang="en-IN" dirty="0"/>
              <a:t>Project Workflow</a:t>
            </a:r>
          </a:p>
        </p:txBody>
      </p:sp>
    </p:spTree>
    <p:extLst>
      <p:ext uri="{BB962C8B-B14F-4D97-AF65-F5344CB8AC3E}">
        <p14:creationId xmlns:p14="http://schemas.microsoft.com/office/powerpoint/2010/main" val="387818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B7D3F-2E4E-34B7-1EC5-7C5219698F2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756626A-9AB3-0800-24E0-F81A5EE81FC7}"/>
              </a:ext>
            </a:extLst>
          </p:cNvPr>
          <p:cNvSpPr/>
          <p:nvPr/>
        </p:nvSpPr>
        <p:spPr>
          <a:xfrm rot="1607165">
            <a:off x="16411705" y="6395076"/>
            <a:ext cx="2965121" cy="4727004"/>
          </a:xfrm>
          <a:custGeom>
            <a:avLst/>
            <a:gdLst/>
            <a:ahLst/>
            <a:cxnLst/>
            <a:rect l="l" t="t" r="r" b="b"/>
            <a:pathLst>
              <a:path w="2965121" h="4727004">
                <a:moveTo>
                  <a:pt x="0" y="0"/>
                </a:moveTo>
                <a:lnTo>
                  <a:pt x="2965121" y="0"/>
                </a:lnTo>
                <a:lnTo>
                  <a:pt x="2965121" y="4727004"/>
                </a:lnTo>
                <a:lnTo>
                  <a:pt x="0" y="472700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a:extLst>
              <a:ext uri="{FF2B5EF4-FFF2-40B4-BE49-F238E27FC236}">
                <a16:creationId xmlns:a16="http://schemas.microsoft.com/office/drawing/2014/main" id="{485E155D-7D7C-D623-DD8E-0B076E45FC57}"/>
              </a:ext>
            </a:extLst>
          </p:cNvPr>
          <p:cNvSpPr/>
          <p:nvPr/>
        </p:nvSpPr>
        <p:spPr>
          <a:xfrm rot="1607165" flipH="1" flipV="1">
            <a:off x="-1103996" y="-788407"/>
            <a:ext cx="2940606" cy="4687923"/>
          </a:xfrm>
          <a:custGeom>
            <a:avLst/>
            <a:gdLst/>
            <a:ahLst/>
            <a:cxnLst/>
            <a:rect l="l" t="t" r="r" b="b"/>
            <a:pathLst>
              <a:path w="2940606" h="4687923">
                <a:moveTo>
                  <a:pt x="2940606" y="4687923"/>
                </a:moveTo>
                <a:lnTo>
                  <a:pt x="0" y="4687923"/>
                </a:lnTo>
                <a:lnTo>
                  <a:pt x="0" y="0"/>
                </a:lnTo>
                <a:lnTo>
                  <a:pt x="2940606" y="0"/>
                </a:lnTo>
                <a:lnTo>
                  <a:pt x="2940606" y="4687923"/>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a:extLst>
              <a:ext uri="{FF2B5EF4-FFF2-40B4-BE49-F238E27FC236}">
                <a16:creationId xmlns:a16="http://schemas.microsoft.com/office/drawing/2014/main" id="{94180979-C26E-E53F-AE9B-A85E0AAB2849}"/>
              </a:ext>
            </a:extLst>
          </p:cNvPr>
          <p:cNvSpPr/>
          <p:nvPr/>
        </p:nvSpPr>
        <p:spPr>
          <a:xfrm>
            <a:off x="4589652" y="286290"/>
            <a:ext cx="1650505" cy="1650505"/>
          </a:xfrm>
          <a:custGeom>
            <a:avLst/>
            <a:gdLst/>
            <a:ahLst/>
            <a:cxnLst/>
            <a:rect l="l" t="t" r="r" b="b"/>
            <a:pathLst>
              <a:path w="1650505" h="1650505">
                <a:moveTo>
                  <a:pt x="0" y="0"/>
                </a:moveTo>
                <a:lnTo>
                  <a:pt x="1650505" y="0"/>
                </a:lnTo>
                <a:lnTo>
                  <a:pt x="1650505" y="1650505"/>
                </a:lnTo>
                <a:lnTo>
                  <a:pt x="0" y="1650505"/>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E1AA58C8-4E8D-818D-6E76-39007D9FC657}"/>
              </a:ext>
            </a:extLst>
          </p:cNvPr>
          <p:cNvSpPr/>
          <p:nvPr/>
        </p:nvSpPr>
        <p:spPr>
          <a:xfrm rot="2700000">
            <a:off x="7308966" y="-780952"/>
            <a:ext cx="4462723" cy="4462723"/>
          </a:xfrm>
          <a:custGeom>
            <a:avLst/>
            <a:gdLst/>
            <a:ahLst/>
            <a:cxnLst/>
            <a:rect l="l" t="t" r="r" b="b"/>
            <a:pathLst>
              <a:path w="4462723" h="4462723">
                <a:moveTo>
                  <a:pt x="0" y="0"/>
                </a:moveTo>
                <a:lnTo>
                  <a:pt x="4462723" y="0"/>
                </a:lnTo>
                <a:lnTo>
                  <a:pt x="4462723" y="4462723"/>
                </a:lnTo>
                <a:lnTo>
                  <a:pt x="0" y="446272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TextBox 6">
            <a:extLst>
              <a:ext uri="{FF2B5EF4-FFF2-40B4-BE49-F238E27FC236}">
                <a16:creationId xmlns:a16="http://schemas.microsoft.com/office/drawing/2014/main" id="{DCC42356-5A9D-26C4-2447-2BFFB4BE261C}"/>
              </a:ext>
            </a:extLst>
          </p:cNvPr>
          <p:cNvSpPr txBox="1"/>
          <p:nvPr/>
        </p:nvSpPr>
        <p:spPr>
          <a:xfrm>
            <a:off x="5484999" y="143415"/>
            <a:ext cx="8110656" cy="1317288"/>
          </a:xfrm>
          <a:prstGeom prst="rect">
            <a:avLst/>
          </a:prstGeom>
        </p:spPr>
        <p:txBody>
          <a:bodyPr lIns="0" tIns="0" rIns="0" bIns="0" rtlCol="0" anchor="t">
            <a:spAutoFit/>
          </a:bodyPr>
          <a:lstStyle/>
          <a:p>
            <a:pPr algn="ctr">
              <a:lnSpc>
                <a:spcPts val="10881"/>
              </a:lnSpc>
              <a:spcBef>
                <a:spcPct val="0"/>
              </a:spcBef>
            </a:pPr>
            <a:r>
              <a:rPr lang="en-US" sz="7772">
                <a:solidFill>
                  <a:srgbClr val="000000"/>
                </a:solidFill>
                <a:latin typeface="Etna Sans Serif"/>
                <a:ea typeface="Etna Sans Serif"/>
                <a:cs typeface="Etna Sans Serif"/>
                <a:sym typeface="Etna Sans Serif"/>
              </a:rPr>
              <a:t>KICK TO TECH</a:t>
            </a:r>
          </a:p>
        </p:txBody>
      </p:sp>
      <p:sp>
        <p:nvSpPr>
          <p:cNvPr id="7" name="TextBox 7">
            <a:extLst>
              <a:ext uri="{FF2B5EF4-FFF2-40B4-BE49-F238E27FC236}">
                <a16:creationId xmlns:a16="http://schemas.microsoft.com/office/drawing/2014/main" id="{231B0E7A-B799-BEC7-87FF-1477AA97EA9A}"/>
              </a:ext>
            </a:extLst>
          </p:cNvPr>
          <p:cNvSpPr txBox="1"/>
          <p:nvPr/>
        </p:nvSpPr>
        <p:spPr>
          <a:xfrm>
            <a:off x="366306" y="9507966"/>
            <a:ext cx="1462493" cy="403957"/>
          </a:xfrm>
          <a:prstGeom prst="rect">
            <a:avLst/>
          </a:prstGeom>
        </p:spPr>
        <p:txBody>
          <a:bodyPr wrap="square" lIns="0" tIns="0" rIns="0" bIns="0" rtlCol="0" anchor="t">
            <a:spAutoFit/>
          </a:bodyPr>
          <a:lstStyle/>
          <a:p>
            <a:pPr algn="ctr">
              <a:lnSpc>
                <a:spcPts val="4177"/>
              </a:lnSpc>
              <a:spcBef>
                <a:spcPct val="0"/>
              </a:spcBef>
            </a:pPr>
            <a:r>
              <a:rPr lang="en-US" sz="2983" dirty="0">
                <a:solidFill>
                  <a:srgbClr val="000000"/>
                </a:solidFill>
                <a:latin typeface="Elika Gorica"/>
                <a:ea typeface="Elika Gorica"/>
                <a:cs typeface="Elika Gorica"/>
                <a:sym typeface="Elika Gorica"/>
              </a:rPr>
              <a:t>Page 7.1</a:t>
            </a:r>
          </a:p>
        </p:txBody>
      </p:sp>
      <p:sp>
        <p:nvSpPr>
          <p:cNvPr id="9" name="TextBox 8">
            <a:extLst>
              <a:ext uri="{FF2B5EF4-FFF2-40B4-BE49-F238E27FC236}">
                <a16:creationId xmlns:a16="http://schemas.microsoft.com/office/drawing/2014/main" id="{504D09E8-05D6-3B0D-44A0-030574320BF8}"/>
              </a:ext>
            </a:extLst>
          </p:cNvPr>
          <p:cNvSpPr txBox="1"/>
          <p:nvPr/>
        </p:nvSpPr>
        <p:spPr>
          <a:xfrm>
            <a:off x="3567793" y="2871470"/>
            <a:ext cx="11152414" cy="1877437"/>
          </a:xfrm>
          <a:prstGeom prst="rect">
            <a:avLst/>
          </a:prstGeom>
          <a:noFill/>
        </p:spPr>
        <p:txBody>
          <a:bodyPr wrap="square">
            <a:spAutoFit/>
          </a:bodyPr>
          <a:lstStyle/>
          <a:p>
            <a:pPr algn="ctr">
              <a:buNone/>
            </a:pPr>
            <a:r>
              <a:rPr lang="en-IN" sz="4400" b="1" dirty="0">
                <a:latin typeface="Cascadia Mono" panose="020B0609020000020004" pitchFamily="49" charset="0"/>
                <a:ea typeface="Cascadia Mono" panose="020B0609020000020004" pitchFamily="49" charset="0"/>
                <a:cs typeface="Cascadia Mono" panose="020B0609020000020004" pitchFamily="49" charset="0"/>
              </a:rPr>
              <a:t>Output Generated</a:t>
            </a:r>
          </a:p>
          <a:p>
            <a:pPr algn="ctr">
              <a:buFont typeface="Arial" panose="020B0604020202020204" pitchFamily="34" charset="0"/>
              <a:buChar char="•"/>
            </a:pPr>
            <a:r>
              <a:rPr lang="en-IN" sz="3600" dirty="0"/>
              <a:t>Churn Prediction </a:t>
            </a:r>
          </a:p>
          <a:p>
            <a:pPr algn="ctr">
              <a:buFont typeface="Arial" panose="020B0604020202020204" pitchFamily="34" charset="0"/>
              <a:buChar char="•"/>
            </a:pPr>
            <a:r>
              <a:rPr lang="en-IN" sz="3600" dirty="0"/>
              <a:t>User Activity Group </a:t>
            </a:r>
          </a:p>
        </p:txBody>
      </p:sp>
    </p:spTree>
    <p:extLst>
      <p:ext uri="{BB962C8B-B14F-4D97-AF65-F5344CB8AC3E}">
        <p14:creationId xmlns:p14="http://schemas.microsoft.com/office/powerpoint/2010/main" val="1222598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98DFE-60A0-A858-C4A9-72D49C0792C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DD5FC5C-AB97-F203-AF65-718AB7DB5C37}"/>
              </a:ext>
            </a:extLst>
          </p:cNvPr>
          <p:cNvSpPr/>
          <p:nvPr/>
        </p:nvSpPr>
        <p:spPr>
          <a:xfrm rot="1607165">
            <a:off x="16411705" y="6395076"/>
            <a:ext cx="2965121" cy="4727004"/>
          </a:xfrm>
          <a:custGeom>
            <a:avLst/>
            <a:gdLst/>
            <a:ahLst/>
            <a:cxnLst/>
            <a:rect l="l" t="t" r="r" b="b"/>
            <a:pathLst>
              <a:path w="2965121" h="4727004">
                <a:moveTo>
                  <a:pt x="0" y="0"/>
                </a:moveTo>
                <a:lnTo>
                  <a:pt x="2965121" y="0"/>
                </a:lnTo>
                <a:lnTo>
                  <a:pt x="2965121" y="4727004"/>
                </a:lnTo>
                <a:lnTo>
                  <a:pt x="0" y="472700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a:extLst>
              <a:ext uri="{FF2B5EF4-FFF2-40B4-BE49-F238E27FC236}">
                <a16:creationId xmlns:a16="http://schemas.microsoft.com/office/drawing/2014/main" id="{6178E36A-07F9-076D-DF10-BE4AE3DC1045}"/>
              </a:ext>
            </a:extLst>
          </p:cNvPr>
          <p:cNvSpPr/>
          <p:nvPr/>
        </p:nvSpPr>
        <p:spPr>
          <a:xfrm rot="1607165" flipH="1" flipV="1">
            <a:off x="-1103996" y="-788407"/>
            <a:ext cx="2940606" cy="4687923"/>
          </a:xfrm>
          <a:custGeom>
            <a:avLst/>
            <a:gdLst/>
            <a:ahLst/>
            <a:cxnLst/>
            <a:rect l="l" t="t" r="r" b="b"/>
            <a:pathLst>
              <a:path w="2940606" h="4687923">
                <a:moveTo>
                  <a:pt x="2940606" y="4687923"/>
                </a:moveTo>
                <a:lnTo>
                  <a:pt x="0" y="4687923"/>
                </a:lnTo>
                <a:lnTo>
                  <a:pt x="0" y="0"/>
                </a:lnTo>
                <a:lnTo>
                  <a:pt x="2940606" y="0"/>
                </a:lnTo>
                <a:lnTo>
                  <a:pt x="2940606" y="4687923"/>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a:extLst>
              <a:ext uri="{FF2B5EF4-FFF2-40B4-BE49-F238E27FC236}">
                <a16:creationId xmlns:a16="http://schemas.microsoft.com/office/drawing/2014/main" id="{6C4C6448-7E36-35C0-A6F6-25BE4F206CB2}"/>
              </a:ext>
            </a:extLst>
          </p:cNvPr>
          <p:cNvSpPr/>
          <p:nvPr/>
        </p:nvSpPr>
        <p:spPr>
          <a:xfrm>
            <a:off x="4589652" y="286290"/>
            <a:ext cx="1650505" cy="1650505"/>
          </a:xfrm>
          <a:custGeom>
            <a:avLst/>
            <a:gdLst/>
            <a:ahLst/>
            <a:cxnLst/>
            <a:rect l="l" t="t" r="r" b="b"/>
            <a:pathLst>
              <a:path w="1650505" h="1650505">
                <a:moveTo>
                  <a:pt x="0" y="0"/>
                </a:moveTo>
                <a:lnTo>
                  <a:pt x="1650505" y="0"/>
                </a:lnTo>
                <a:lnTo>
                  <a:pt x="1650505" y="1650505"/>
                </a:lnTo>
                <a:lnTo>
                  <a:pt x="0" y="1650505"/>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428BC8B4-ADBF-4A0E-1E8A-057D04F2C6A6}"/>
              </a:ext>
            </a:extLst>
          </p:cNvPr>
          <p:cNvSpPr/>
          <p:nvPr/>
        </p:nvSpPr>
        <p:spPr>
          <a:xfrm rot="2700000">
            <a:off x="7308966" y="-780952"/>
            <a:ext cx="4462723" cy="4462723"/>
          </a:xfrm>
          <a:custGeom>
            <a:avLst/>
            <a:gdLst/>
            <a:ahLst/>
            <a:cxnLst/>
            <a:rect l="l" t="t" r="r" b="b"/>
            <a:pathLst>
              <a:path w="4462723" h="4462723">
                <a:moveTo>
                  <a:pt x="0" y="0"/>
                </a:moveTo>
                <a:lnTo>
                  <a:pt x="4462723" y="0"/>
                </a:lnTo>
                <a:lnTo>
                  <a:pt x="4462723" y="4462723"/>
                </a:lnTo>
                <a:lnTo>
                  <a:pt x="0" y="446272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TextBox 6">
            <a:extLst>
              <a:ext uri="{FF2B5EF4-FFF2-40B4-BE49-F238E27FC236}">
                <a16:creationId xmlns:a16="http://schemas.microsoft.com/office/drawing/2014/main" id="{4E29F37D-97DE-2DEE-D8B0-6781EAE0549C}"/>
              </a:ext>
            </a:extLst>
          </p:cNvPr>
          <p:cNvSpPr txBox="1"/>
          <p:nvPr/>
        </p:nvSpPr>
        <p:spPr>
          <a:xfrm>
            <a:off x="5484999" y="143415"/>
            <a:ext cx="8110656" cy="1317288"/>
          </a:xfrm>
          <a:prstGeom prst="rect">
            <a:avLst/>
          </a:prstGeom>
        </p:spPr>
        <p:txBody>
          <a:bodyPr lIns="0" tIns="0" rIns="0" bIns="0" rtlCol="0" anchor="t">
            <a:spAutoFit/>
          </a:bodyPr>
          <a:lstStyle/>
          <a:p>
            <a:pPr algn="ctr">
              <a:lnSpc>
                <a:spcPts val="10881"/>
              </a:lnSpc>
              <a:spcBef>
                <a:spcPct val="0"/>
              </a:spcBef>
            </a:pPr>
            <a:r>
              <a:rPr lang="en-US" sz="7772">
                <a:solidFill>
                  <a:srgbClr val="000000"/>
                </a:solidFill>
                <a:latin typeface="Etna Sans Serif"/>
                <a:ea typeface="Etna Sans Serif"/>
                <a:cs typeface="Etna Sans Serif"/>
                <a:sym typeface="Etna Sans Serif"/>
              </a:rPr>
              <a:t>KICK TO TECH</a:t>
            </a:r>
          </a:p>
        </p:txBody>
      </p:sp>
      <p:sp>
        <p:nvSpPr>
          <p:cNvPr id="7" name="TextBox 7">
            <a:extLst>
              <a:ext uri="{FF2B5EF4-FFF2-40B4-BE49-F238E27FC236}">
                <a16:creationId xmlns:a16="http://schemas.microsoft.com/office/drawing/2014/main" id="{4F847D52-941B-AECE-9B6F-43C5617C8182}"/>
              </a:ext>
            </a:extLst>
          </p:cNvPr>
          <p:cNvSpPr txBox="1"/>
          <p:nvPr/>
        </p:nvSpPr>
        <p:spPr>
          <a:xfrm>
            <a:off x="366306" y="9507966"/>
            <a:ext cx="1691093" cy="403957"/>
          </a:xfrm>
          <a:prstGeom prst="rect">
            <a:avLst/>
          </a:prstGeom>
        </p:spPr>
        <p:txBody>
          <a:bodyPr wrap="square" lIns="0" tIns="0" rIns="0" bIns="0" rtlCol="0" anchor="t">
            <a:spAutoFit/>
          </a:bodyPr>
          <a:lstStyle/>
          <a:p>
            <a:pPr algn="ctr">
              <a:lnSpc>
                <a:spcPts val="4177"/>
              </a:lnSpc>
              <a:spcBef>
                <a:spcPct val="0"/>
              </a:spcBef>
            </a:pPr>
            <a:r>
              <a:rPr lang="en-US" sz="2983" dirty="0">
                <a:solidFill>
                  <a:srgbClr val="000000"/>
                </a:solidFill>
                <a:latin typeface="Elika Gorica"/>
                <a:ea typeface="Elika Gorica"/>
                <a:cs typeface="Elika Gorica"/>
                <a:sym typeface="Elika Gorica"/>
              </a:rPr>
              <a:t>Page 8</a:t>
            </a:r>
          </a:p>
        </p:txBody>
      </p:sp>
      <p:sp>
        <p:nvSpPr>
          <p:cNvPr id="9" name="TextBox 8">
            <a:extLst>
              <a:ext uri="{FF2B5EF4-FFF2-40B4-BE49-F238E27FC236}">
                <a16:creationId xmlns:a16="http://schemas.microsoft.com/office/drawing/2014/main" id="{B6A26FA5-90E7-7415-58F6-16435547D10C}"/>
              </a:ext>
            </a:extLst>
          </p:cNvPr>
          <p:cNvSpPr txBox="1"/>
          <p:nvPr/>
        </p:nvSpPr>
        <p:spPr>
          <a:xfrm>
            <a:off x="3567793" y="1603578"/>
            <a:ext cx="11152414" cy="769441"/>
          </a:xfrm>
          <a:prstGeom prst="rect">
            <a:avLst/>
          </a:prstGeom>
          <a:noFill/>
        </p:spPr>
        <p:txBody>
          <a:bodyPr wrap="square">
            <a:spAutoFit/>
          </a:bodyPr>
          <a:lstStyle/>
          <a:p>
            <a:pPr algn="ctr"/>
            <a:r>
              <a:rPr lang="en-IN" sz="4400" dirty="0">
                <a:latin typeface="Cascadia Mono" panose="020B0609020000020004" pitchFamily="49" charset="0"/>
                <a:ea typeface="Cascadia Mono" panose="020B0609020000020004" pitchFamily="49" charset="0"/>
                <a:cs typeface="Cascadia Mono" panose="020B0609020000020004" pitchFamily="49" charset="0"/>
              </a:rPr>
              <a:t>Project Output</a:t>
            </a:r>
          </a:p>
        </p:txBody>
      </p:sp>
      <p:pic>
        <p:nvPicPr>
          <p:cNvPr id="11" name="Picture 10">
            <a:extLst>
              <a:ext uri="{FF2B5EF4-FFF2-40B4-BE49-F238E27FC236}">
                <a16:creationId xmlns:a16="http://schemas.microsoft.com/office/drawing/2014/main" id="{730B0BA7-DE88-CF8A-08F5-0DB9DF096BF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47686" y="2573990"/>
            <a:ext cx="12192627" cy="7163168"/>
          </a:xfrm>
          <a:prstGeom prst="rect">
            <a:avLst/>
          </a:prstGeom>
        </p:spPr>
      </p:pic>
      <p:sp>
        <p:nvSpPr>
          <p:cNvPr id="13" name="TextBox 12">
            <a:extLst>
              <a:ext uri="{FF2B5EF4-FFF2-40B4-BE49-F238E27FC236}">
                <a16:creationId xmlns:a16="http://schemas.microsoft.com/office/drawing/2014/main" id="{EC5D5D41-ED6A-E189-3512-93B288908853}"/>
              </a:ext>
            </a:extLst>
          </p:cNvPr>
          <p:cNvSpPr txBox="1"/>
          <p:nvPr/>
        </p:nvSpPr>
        <p:spPr>
          <a:xfrm>
            <a:off x="499298" y="3341110"/>
            <a:ext cx="2652184" cy="1938992"/>
          </a:xfrm>
          <a:prstGeom prst="rect">
            <a:avLst/>
          </a:prstGeom>
          <a:noFill/>
        </p:spPr>
        <p:txBody>
          <a:bodyPr wrap="square">
            <a:spAutoFit/>
          </a:bodyPr>
          <a:lstStyle/>
          <a:p>
            <a:pPr algn="ctr"/>
            <a:r>
              <a:rPr lang="en-IN" sz="4000" dirty="0">
                <a:latin typeface="Cascadia Mono" panose="020B0609020000020004" pitchFamily="49" charset="0"/>
                <a:ea typeface="Cascadia Mono" panose="020B0609020000020004" pitchFamily="49" charset="0"/>
                <a:cs typeface="Cascadia Mono" panose="020B0609020000020004" pitchFamily="49" charset="0"/>
              </a:rPr>
              <a:t>Project main Code </a:t>
            </a:r>
          </a:p>
        </p:txBody>
      </p:sp>
    </p:spTree>
    <p:extLst>
      <p:ext uri="{BB962C8B-B14F-4D97-AF65-F5344CB8AC3E}">
        <p14:creationId xmlns:p14="http://schemas.microsoft.com/office/powerpoint/2010/main" val="17388307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21BCC-DB01-F49D-5ADC-952F2C86883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5AF5015-54A6-0DAB-3276-7E46A6C55BB0}"/>
              </a:ext>
            </a:extLst>
          </p:cNvPr>
          <p:cNvSpPr/>
          <p:nvPr/>
        </p:nvSpPr>
        <p:spPr>
          <a:xfrm rot="1607165">
            <a:off x="16411705" y="6395076"/>
            <a:ext cx="2965121" cy="4727004"/>
          </a:xfrm>
          <a:custGeom>
            <a:avLst/>
            <a:gdLst/>
            <a:ahLst/>
            <a:cxnLst/>
            <a:rect l="l" t="t" r="r" b="b"/>
            <a:pathLst>
              <a:path w="2965121" h="4727004">
                <a:moveTo>
                  <a:pt x="0" y="0"/>
                </a:moveTo>
                <a:lnTo>
                  <a:pt x="2965121" y="0"/>
                </a:lnTo>
                <a:lnTo>
                  <a:pt x="2965121" y="4727004"/>
                </a:lnTo>
                <a:lnTo>
                  <a:pt x="0" y="472700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a:extLst>
              <a:ext uri="{FF2B5EF4-FFF2-40B4-BE49-F238E27FC236}">
                <a16:creationId xmlns:a16="http://schemas.microsoft.com/office/drawing/2014/main" id="{6834B8FD-02D6-D293-18A8-E53F9EF862F9}"/>
              </a:ext>
            </a:extLst>
          </p:cNvPr>
          <p:cNvSpPr/>
          <p:nvPr/>
        </p:nvSpPr>
        <p:spPr>
          <a:xfrm rot="1607165" flipH="1" flipV="1">
            <a:off x="-1103996" y="-788407"/>
            <a:ext cx="2940606" cy="4687923"/>
          </a:xfrm>
          <a:custGeom>
            <a:avLst/>
            <a:gdLst/>
            <a:ahLst/>
            <a:cxnLst/>
            <a:rect l="l" t="t" r="r" b="b"/>
            <a:pathLst>
              <a:path w="2940606" h="4687923">
                <a:moveTo>
                  <a:pt x="2940606" y="4687923"/>
                </a:moveTo>
                <a:lnTo>
                  <a:pt x="0" y="4687923"/>
                </a:lnTo>
                <a:lnTo>
                  <a:pt x="0" y="0"/>
                </a:lnTo>
                <a:lnTo>
                  <a:pt x="2940606" y="0"/>
                </a:lnTo>
                <a:lnTo>
                  <a:pt x="2940606" y="4687923"/>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a:extLst>
              <a:ext uri="{FF2B5EF4-FFF2-40B4-BE49-F238E27FC236}">
                <a16:creationId xmlns:a16="http://schemas.microsoft.com/office/drawing/2014/main" id="{0091A643-65A6-1BBF-DC0D-4C94E352868B}"/>
              </a:ext>
            </a:extLst>
          </p:cNvPr>
          <p:cNvSpPr/>
          <p:nvPr/>
        </p:nvSpPr>
        <p:spPr>
          <a:xfrm>
            <a:off x="4589652" y="286290"/>
            <a:ext cx="1650505" cy="1650505"/>
          </a:xfrm>
          <a:custGeom>
            <a:avLst/>
            <a:gdLst/>
            <a:ahLst/>
            <a:cxnLst/>
            <a:rect l="l" t="t" r="r" b="b"/>
            <a:pathLst>
              <a:path w="1650505" h="1650505">
                <a:moveTo>
                  <a:pt x="0" y="0"/>
                </a:moveTo>
                <a:lnTo>
                  <a:pt x="1650505" y="0"/>
                </a:lnTo>
                <a:lnTo>
                  <a:pt x="1650505" y="1650505"/>
                </a:lnTo>
                <a:lnTo>
                  <a:pt x="0" y="1650505"/>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31CDBD44-551C-4C32-4758-208EE7BC8062}"/>
              </a:ext>
            </a:extLst>
          </p:cNvPr>
          <p:cNvSpPr/>
          <p:nvPr/>
        </p:nvSpPr>
        <p:spPr>
          <a:xfrm rot="2700000">
            <a:off x="7308966" y="-780952"/>
            <a:ext cx="4462723" cy="4462723"/>
          </a:xfrm>
          <a:custGeom>
            <a:avLst/>
            <a:gdLst/>
            <a:ahLst/>
            <a:cxnLst/>
            <a:rect l="l" t="t" r="r" b="b"/>
            <a:pathLst>
              <a:path w="4462723" h="4462723">
                <a:moveTo>
                  <a:pt x="0" y="0"/>
                </a:moveTo>
                <a:lnTo>
                  <a:pt x="4462723" y="0"/>
                </a:lnTo>
                <a:lnTo>
                  <a:pt x="4462723" y="4462723"/>
                </a:lnTo>
                <a:lnTo>
                  <a:pt x="0" y="446272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TextBox 6">
            <a:extLst>
              <a:ext uri="{FF2B5EF4-FFF2-40B4-BE49-F238E27FC236}">
                <a16:creationId xmlns:a16="http://schemas.microsoft.com/office/drawing/2014/main" id="{0F243E99-28A2-1CCE-5CBC-E11E17B92B63}"/>
              </a:ext>
            </a:extLst>
          </p:cNvPr>
          <p:cNvSpPr txBox="1"/>
          <p:nvPr/>
        </p:nvSpPr>
        <p:spPr>
          <a:xfrm>
            <a:off x="5484999" y="143415"/>
            <a:ext cx="8110656" cy="1317288"/>
          </a:xfrm>
          <a:prstGeom prst="rect">
            <a:avLst/>
          </a:prstGeom>
        </p:spPr>
        <p:txBody>
          <a:bodyPr lIns="0" tIns="0" rIns="0" bIns="0" rtlCol="0" anchor="t">
            <a:spAutoFit/>
          </a:bodyPr>
          <a:lstStyle/>
          <a:p>
            <a:pPr algn="ctr">
              <a:lnSpc>
                <a:spcPts val="10881"/>
              </a:lnSpc>
              <a:spcBef>
                <a:spcPct val="0"/>
              </a:spcBef>
            </a:pPr>
            <a:r>
              <a:rPr lang="en-US" sz="7772">
                <a:solidFill>
                  <a:srgbClr val="000000"/>
                </a:solidFill>
                <a:latin typeface="Etna Sans Serif"/>
                <a:ea typeface="Etna Sans Serif"/>
                <a:cs typeface="Etna Sans Serif"/>
                <a:sym typeface="Etna Sans Serif"/>
              </a:rPr>
              <a:t>KICK TO TECH</a:t>
            </a:r>
          </a:p>
        </p:txBody>
      </p:sp>
      <p:sp>
        <p:nvSpPr>
          <p:cNvPr id="7" name="TextBox 7">
            <a:extLst>
              <a:ext uri="{FF2B5EF4-FFF2-40B4-BE49-F238E27FC236}">
                <a16:creationId xmlns:a16="http://schemas.microsoft.com/office/drawing/2014/main" id="{6F7E965E-59AA-0BA3-E91B-608AF1345C34}"/>
              </a:ext>
            </a:extLst>
          </p:cNvPr>
          <p:cNvSpPr txBox="1"/>
          <p:nvPr/>
        </p:nvSpPr>
        <p:spPr>
          <a:xfrm>
            <a:off x="366306" y="9507966"/>
            <a:ext cx="1691093" cy="403957"/>
          </a:xfrm>
          <a:prstGeom prst="rect">
            <a:avLst/>
          </a:prstGeom>
        </p:spPr>
        <p:txBody>
          <a:bodyPr wrap="square" lIns="0" tIns="0" rIns="0" bIns="0" rtlCol="0" anchor="t">
            <a:spAutoFit/>
          </a:bodyPr>
          <a:lstStyle/>
          <a:p>
            <a:pPr algn="ctr">
              <a:lnSpc>
                <a:spcPts val="4177"/>
              </a:lnSpc>
              <a:spcBef>
                <a:spcPct val="0"/>
              </a:spcBef>
            </a:pPr>
            <a:r>
              <a:rPr lang="en-US" sz="2983" dirty="0">
                <a:solidFill>
                  <a:srgbClr val="000000"/>
                </a:solidFill>
                <a:latin typeface="Elika Gorica"/>
                <a:ea typeface="Elika Gorica"/>
                <a:cs typeface="Elika Gorica"/>
                <a:sym typeface="Elika Gorica"/>
              </a:rPr>
              <a:t>Page 8.1</a:t>
            </a:r>
          </a:p>
        </p:txBody>
      </p:sp>
      <p:sp>
        <p:nvSpPr>
          <p:cNvPr id="9" name="TextBox 8">
            <a:extLst>
              <a:ext uri="{FF2B5EF4-FFF2-40B4-BE49-F238E27FC236}">
                <a16:creationId xmlns:a16="http://schemas.microsoft.com/office/drawing/2014/main" id="{88DC07AC-20EC-0747-6F76-91E525549014}"/>
              </a:ext>
            </a:extLst>
          </p:cNvPr>
          <p:cNvSpPr txBox="1"/>
          <p:nvPr/>
        </p:nvSpPr>
        <p:spPr>
          <a:xfrm>
            <a:off x="3567793" y="1603578"/>
            <a:ext cx="11152414" cy="769441"/>
          </a:xfrm>
          <a:prstGeom prst="rect">
            <a:avLst/>
          </a:prstGeom>
          <a:noFill/>
        </p:spPr>
        <p:txBody>
          <a:bodyPr wrap="square">
            <a:spAutoFit/>
          </a:bodyPr>
          <a:lstStyle/>
          <a:p>
            <a:pPr algn="ctr"/>
            <a:r>
              <a:rPr lang="en-IN" sz="4400" dirty="0">
                <a:latin typeface="Cascadia Mono" panose="020B0609020000020004" pitchFamily="49" charset="0"/>
                <a:ea typeface="Cascadia Mono" panose="020B0609020000020004" pitchFamily="49" charset="0"/>
                <a:cs typeface="Cascadia Mono" panose="020B0609020000020004" pitchFamily="49" charset="0"/>
              </a:rPr>
              <a:t>Project Output</a:t>
            </a:r>
          </a:p>
        </p:txBody>
      </p:sp>
      <p:pic>
        <p:nvPicPr>
          <p:cNvPr id="10" name="Picture 9">
            <a:extLst>
              <a:ext uri="{FF2B5EF4-FFF2-40B4-BE49-F238E27FC236}">
                <a16:creationId xmlns:a16="http://schemas.microsoft.com/office/drawing/2014/main" id="{05911F35-153C-7FB6-E24A-6EB52A19472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47686" y="2579433"/>
            <a:ext cx="12192627" cy="7163168"/>
          </a:xfrm>
          <a:prstGeom prst="rect">
            <a:avLst/>
          </a:prstGeom>
        </p:spPr>
      </p:pic>
      <p:sp>
        <p:nvSpPr>
          <p:cNvPr id="12" name="TextBox 11">
            <a:extLst>
              <a:ext uri="{FF2B5EF4-FFF2-40B4-BE49-F238E27FC236}">
                <a16:creationId xmlns:a16="http://schemas.microsoft.com/office/drawing/2014/main" id="{87C9EE45-BB03-92F8-304F-AA2D39FB72AF}"/>
              </a:ext>
            </a:extLst>
          </p:cNvPr>
          <p:cNvSpPr txBox="1"/>
          <p:nvPr/>
        </p:nvSpPr>
        <p:spPr>
          <a:xfrm>
            <a:off x="499298" y="3341110"/>
            <a:ext cx="2652184" cy="1938992"/>
          </a:xfrm>
          <a:prstGeom prst="rect">
            <a:avLst/>
          </a:prstGeom>
          <a:noFill/>
        </p:spPr>
        <p:txBody>
          <a:bodyPr wrap="square">
            <a:spAutoFit/>
          </a:bodyPr>
          <a:lstStyle/>
          <a:p>
            <a:pPr algn="ctr"/>
            <a:r>
              <a:rPr lang="en-IN" sz="4000" dirty="0">
                <a:latin typeface="Cascadia Mono" panose="020B0609020000020004" pitchFamily="49" charset="0"/>
                <a:ea typeface="Cascadia Mono" panose="020B0609020000020004" pitchFamily="49" charset="0"/>
                <a:cs typeface="Cascadia Mono" panose="020B0609020000020004" pitchFamily="49" charset="0"/>
              </a:rPr>
              <a:t>Project main Code </a:t>
            </a:r>
          </a:p>
        </p:txBody>
      </p:sp>
    </p:spTree>
    <p:extLst>
      <p:ext uri="{BB962C8B-B14F-4D97-AF65-F5344CB8AC3E}">
        <p14:creationId xmlns:p14="http://schemas.microsoft.com/office/powerpoint/2010/main" val="21530655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16FD8-C8EE-3FD4-D1BB-610FC063B2D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8D2D2BF-71AE-A014-09E7-4162AF0415F0}"/>
              </a:ext>
            </a:extLst>
          </p:cNvPr>
          <p:cNvSpPr/>
          <p:nvPr/>
        </p:nvSpPr>
        <p:spPr>
          <a:xfrm rot="1607165">
            <a:off x="16411705" y="6395076"/>
            <a:ext cx="2965121" cy="4727004"/>
          </a:xfrm>
          <a:custGeom>
            <a:avLst/>
            <a:gdLst/>
            <a:ahLst/>
            <a:cxnLst/>
            <a:rect l="l" t="t" r="r" b="b"/>
            <a:pathLst>
              <a:path w="2965121" h="4727004">
                <a:moveTo>
                  <a:pt x="0" y="0"/>
                </a:moveTo>
                <a:lnTo>
                  <a:pt x="2965121" y="0"/>
                </a:lnTo>
                <a:lnTo>
                  <a:pt x="2965121" y="4727004"/>
                </a:lnTo>
                <a:lnTo>
                  <a:pt x="0" y="472700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a:extLst>
              <a:ext uri="{FF2B5EF4-FFF2-40B4-BE49-F238E27FC236}">
                <a16:creationId xmlns:a16="http://schemas.microsoft.com/office/drawing/2014/main" id="{19B39761-5133-21A5-B0AF-70DD93C258CD}"/>
              </a:ext>
            </a:extLst>
          </p:cNvPr>
          <p:cNvSpPr/>
          <p:nvPr/>
        </p:nvSpPr>
        <p:spPr>
          <a:xfrm rot="1607165" flipH="1" flipV="1">
            <a:off x="-1103996" y="-788407"/>
            <a:ext cx="2940606" cy="4687923"/>
          </a:xfrm>
          <a:custGeom>
            <a:avLst/>
            <a:gdLst/>
            <a:ahLst/>
            <a:cxnLst/>
            <a:rect l="l" t="t" r="r" b="b"/>
            <a:pathLst>
              <a:path w="2940606" h="4687923">
                <a:moveTo>
                  <a:pt x="2940606" y="4687923"/>
                </a:moveTo>
                <a:lnTo>
                  <a:pt x="0" y="4687923"/>
                </a:lnTo>
                <a:lnTo>
                  <a:pt x="0" y="0"/>
                </a:lnTo>
                <a:lnTo>
                  <a:pt x="2940606" y="0"/>
                </a:lnTo>
                <a:lnTo>
                  <a:pt x="2940606" y="4687923"/>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a:extLst>
              <a:ext uri="{FF2B5EF4-FFF2-40B4-BE49-F238E27FC236}">
                <a16:creationId xmlns:a16="http://schemas.microsoft.com/office/drawing/2014/main" id="{EC2726BC-45F4-F8E0-8A9A-75C946560BD2}"/>
              </a:ext>
            </a:extLst>
          </p:cNvPr>
          <p:cNvSpPr/>
          <p:nvPr/>
        </p:nvSpPr>
        <p:spPr>
          <a:xfrm>
            <a:off x="4589652" y="286290"/>
            <a:ext cx="1650505" cy="1650505"/>
          </a:xfrm>
          <a:custGeom>
            <a:avLst/>
            <a:gdLst/>
            <a:ahLst/>
            <a:cxnLst/>
            <a:rect l="l" t="t" r="r" b="b"/>
            <a:pathLst>
              <a:path w="1650505" h="1650505">
                <a:moveTo>
                  <a:pt x="0" y="0"/>
                </a:moveTo>
                <a:lnTo>
                  <a:pt x="1650505" y="0"/>
                </a:lnTo>
                <a:lnTo>
                  <a:pt x="1650505" y="1650505"/>
                </a:lnTo>
                <a:lnTo>
                  <a:pt x="0" y="1650505"/>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30CA707B-AAB3-44FF-38A8-A4625C11E9EA}"/>
              </a:ext>
            </a:extLst>
          </p:cNvPr>
          <p:cNvSpPr/>
          <p:nvPr/>
        </p:nvSpPr>
        <p:spPr>
          <a:xfrm rot="2700000">
            <a:off x="7308966" y="-780952"/>
            <a:ext cx="4462723" cy="4462723"/>
          </a:xfrm>
          <a:custGeom>
            <a:avLst/>
            <a:gdLst/>
            <a:ahLst/>
            <a:cxnLst/>
            <a:rect l="l" t="t" r="r" b="b"/>
            <a:pathLst>
              <a:path w="4462723" h="4462723">
                <a:moveTo>
                  <a:pt x="0" y="0"/>
                </a:moveTo>
                <a:lnTo>
                  <a:pt x="4462723" y="0"/>
                </a:lnTo>
                <a:lnTo>
                  <a:pt x="4462723" y="4462723"/>
                </a:lnTo>
                <a:lnTo>
                  <a:pt x="0" y="446272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TextBox 6">
            <a:extLst>
              <a:ext uri="{FF2B5EF4-FFF2-40B4-BE49-F238E27FC236}">
                <a16:creationId xmlns:a16="http://schemas.microsoft.com/office/drawing/2014/main" id="{5BB8B425-DF44-DD04-AAC8-91FAAA775C12}"/>
              </a:ext>
            </a:extLst>
          </p:cNvPr>
          <p:cNvSpPr txBox="1"/>
          <p:nvPr/>
        </p:nvSpPr>
        <p:spPr>
          <a:xfrm>
            <a:off x="5484999" y="143415"/>
            <a:ext cx="8110656" cy="1317288"/>
          </a:xfrm>
          <a:prstGeom prst="rect">
            <a:avLst/>
          </a:prstGeom>
        </p:spPr>
        <p:txBody>
          <a:bodyPr lIns="0" tIns="0" rIns="0" bIns="0" rtlCol="0" anchor="t">
            <a:spAutoFit/>
          </a:bodyPr>
          <a:lstStyle/>
          <a:p>
            <a:pPr algn="ctr">
              <a:lnSpc>
                <a:spcPts val="10881"/>
              </a:lnSpc>
              <a:spcBef>
                <a:spcPct val="0"/>
              </a:spcBef>
            </a:pPr>
            <a:r>
              <a:rPr lang="en-US" sz="7772">
                <a:solidFill>
                  <a:srgbClr val="000000"/>
                </a:solidFill>
                <a:latin typeface="Etna Sans Serif"/>
                <a:ea typeface="Etna Sans Serif"/>
                <a:cs typeface="Etna Sans Serif"/>
                <a:sym typeface="Etna Sans Serif"/>
              </a:rPr>
              <a:t>KICK TO TECH</a:t>
            </a:r>
          </a:p>
        </p:txBody>
      </p:sp>
      <p:sp>
        <p:nvSpPr>
          <p:cNvPr id="7" name="TextBox 7">
            <a:extLst>
              <a:ext uri="{FF2B5EF4-FFF2-40B4-BE49-F238E27FC236}">
                <a16:creationId xmlns:a16="http://schemas.microsoft.com/office/drawing/2014/main" id="{4437552C-5585-EB5E-1E36-5A6177352BF1}"/>
              </a:ext>
            </a:extLst>
          </p:cNvPr>
          <p:cNvSpPr txBox="1"/>
          <p:nvPr/>
        </p:nvSpPr>
        <p:spPr>
          <a:xfrm>
            <a:off x="366306" y="9507966"/>
            <a:ext cx="1691093" cy="403957"/>
          </a:xfrm>
          <a:prstGeom prst="rect">
            <a:avLst/>
          </a:prstGeom>
        </p:spPr>
        <p:txBody>
          <a:bodyPr wrap="square" lIns="0" tIns="0" rIns="0" bIns="0" rtlCol="0" anchor="t">
            <a:spAutoFit/>
          </a:bodyPr>
          <a:lstStyle/>
          <a:p>
            <a:pPr algn="ctr">
              <a:lnSpc>
                <a:spcPts val="4177"/>
              </a:lnSpc>
              <a:spcBef>
                <a:spcPct val="0"/>
              </a:spcBef>
            </a:pPr>
            <a:r>
              <a:rPr lang="en-US" sz="2983" dirty="0">
                <a:solidFill>
                  <a:srgbClr val="000000"/>
                </a:solidFill>
                <a:latin typeface="Elika Gorica"/>
                <a:ea typeface="Elika Gorica"/>
                <a:cs typeface="Elika Gorica"/>
                <a:sym typeface="Elika Gorica"/>
              </a:rPr>
              <a:t>Page 8.2</a:t>
            </a:r>
          </a:p>
        </p:txBody>
      </p:sp>
      <p:sp>
        <p:nvSpPr>
          <p:cNvPr id="9" name="TextBox 8">
            <a:extLst>
              <a:ext uri="{FF2B5EF4-FFF2-40B4-BE49-F238E27FC236}">
                <a16:creationId xmlns:a16="http://schemas.microsoft.com/office/drawing/2014/main" id="{9B7B68A4-5148-706C-8036-05EB15F698CF}"/>
              </a:ext>
            </a:extLst>
          </p:cNvPr>
          <p:cNvSpPr txBox="1"/>
          <p:nvPr/>
        </p:nvSpPr>
        <p:spPr>
          <a:xfrm>
            <a:off x="3567793" y="1603578"/>
            <a:ext cx="11152414" cy="769441"/>
          </a:xfrm>
          <a:prstGeom prst="rect">
            <a:avLst/>
          </a:prstGeom>
          <a:noFill/>
        </p:spPr>
        <p:txBody>
          <a:bodyPr wrap="square">
            <a:spAutoFit/>
          </a:bodyPr>
          <a:lstStyle/>
          <a:p>
            <a:pPr algn="ctr"/>
            <a:r>
              <a:rPr lang="en-IN" sz="4400" dirty="0">
                <a:latin typeface="Cascadia Mono" panose="020B0609020000020004" pitchFamily="49" charset="0"/>
                <a:ea typeface="Cascadia Mono" panose="020B0609020000020004" pitchFamily="49" charset="0"/>
                <a:cs typeface="Cascadia Mono" panose="020B0609020000020004" pitchFamily="49" charset="0"/>
              </a:rPr>
              <a:t>Project Output</a:t>
            </a:r>
          </a:p>
        </p:txBody>
      </p:sp>
      <p:pic>
        <p:nvPicPr>
          <p:cNvPr id="10" name="Picture 9">
            <a:extLst>
              <a:ext uri="{FF2B5EF4-FFF2-40B4-BE49-F238E27FC236}">
                <a16:creationId xmlns:a16="http://schemas.microsoft.com/office/drawing/2014/main" id="{D155EF63-89E1-8EBC-E544-15D7713DF7A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62984" y="2546776"/>
            <a:ext cx="12192627" cy="7163168"/>
          </a:xfrm>
          <a:prstGeom prst="rect">
            <a:avLst/>
          </a:prstGeom>
        </p:spPr>
      </p:pic>
      <p:sp>
        <p:nvSpPr>
          <p:cNvPr id="12" name="TextBox 11">
            <a:extLst>
              <a:ext uri="{FF2B5EF4-FFF2-40B4-BE49-F238E27FC236}">
                <a16:creationId xmlns:a16="http://schemas.microsoft.com/office/drawing/2014/main" id="{FDEFF8F7-6430-4134-2241-5F5D46502C1F}"/>
              </a:ext>
            </a:extLst>
          </p:cNvPr>
          <p:cNvSpPr txBox="1"/>
          <p:nvPr/>
        </p:nvSpPr>
        <p:spPr>
          <a:xfrm>
            <a:off x="638526" y="2568481"/>
            <a:ext cx="2652184" cy="6247864"/>
          </a:xfrm>
          <a:prstGeom prst="rect">
            <a:avLst/>
          </a:prstGeom>
          <a:noFill/>
        </p:spPr>
        <p:txBody>
          <a:bodyPr wrap="square">
            <a:spAutoFit/>
          </a:bodyPr>
          <a:lstStyle/>
          <a:p>
            <a:pPr algn="ctr"/>
            <a:r>
              <a:rPr lang="en-IN" sz="4000" dirty="0">
                <a:latin typeface="Cascadia Mono" panose="020B0609020000020004" pitchFamily="49" charset="0"/>
                <a:ea typeface="Cascadia Mono" panose="020B0609020000020004" pitchFamily="49" charset="0"/>
                <a:cs typeface="Cascadia Mono" panose="020B0609020000020004" pitchFamily="49" charset="0"/>
              </a:rPr>
              <a:t>.csv file: it contains all the data that  is used to train the model</a:t>
            </a:r>
          </a:p>
        </p:txBody>
      </p:sp>
    </p:spTree>
    <p:extLst>
      <p:ext uri="{BB962C8B-B14F-4D97-AF65-F5344CB8AC3E}">
        <p14:creationId xmlns:p14="http://schemas.microsoft.com/office/powerpoint/2010/main" val="1574083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ED0AA-922A-9171-5AAE-4D2916CF6B0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4FF3A88-4317-07F2-D603-9D15537DA3E3}"/>
              </a:ext>
            </a:extLst>
          </p:cNvPr>
          <p:cNvSpPr/>
          <p:nvPr/>
        </p:nvSpPr>
        <p:spPr>
          <a:xfrm rot="1607165">
            <a:off x="16411705" y="6395076"/>
            <a:ext cx="2965121" cy="4727004"/>
          </a:xfrm>
          <a:custGeom>
            <a:avLst/>
            <a:gdLst/>
            <a:ahLst/>
            <a:cxnLst/>
            <a:rect l="l" t="t" r="r" b="b"/>
            <a:pathLst>
              <a:path w="2965121" h="4727004">
                <a:moveTo>
                  <a:pt x="0" y="0"/>
                </a:moveTo>
                <a:lnTo>
                  <a:pt x="2965121" y="0"/>
                </a:lnTo>
                <a:lnTo>
                  <a:pt x="2965121" y="4727004"/>
                </a:lnTo>
                <a:lnTo>
                  <a:pt x="0" y="472700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a:extLst>
              <a:ext uri="{FF2B5EF4-FFF2-40B4-BE49-F238E27FC236}">
                <a16:creationId xmlns:a16="http://schemas.microsoft.com/office/drawing/2014/main" id="{AEA2894C-7E54-5081-1231-61EFB836E337}"/>
              </a:ext>
            </a:extLst>
          </p:cNvPr>
          <p:cNvSpPr/>
          <p:nvPr/>
        </p:nvSpPr>
        <p:spPr>
          <a:xfrm rot="1607165" flipH="1" flipV="1">
            <a:off x="-1103996" y="-788407"/>
            <a:ext cx="2940606" cy="4687923"/>
          </a:xfrm>
          <a:custGeom>
            <a:avLst/>
            <a:gdLst/>
            <a:ahLst/>
            <a:cxnLst/>
            <a:rect l="l" t="t" r="r" b="b"/>
            <a:pathLst>
              <a:path w="2940606" h="4687923">
                <a:moveTo>
                  <a:pt x="2940606" y="4687923"/>
                </a:moveTo>
                <a:lnTo>
                  <a:pt x="0" y="4687923"/>
                </a:lnTo>
                <a:lnTo>
                  <a:pt x="0" y="0"/>
                </a:lnTo>
                <a:lnTo>
                  <a:pt x="2940606" y="0"/>
                </a:lnTo>
                <a:lnTo>
                  <a:pt x="2940606" y="4687923"/>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a:extLst>
              <a:ext uri="{FF2B5EF4-FFF2-40B4-BE49-F238E27FC236}">
                <a16:creationId xmlns:a16="http://schemas.microsoft.com/office/drawing/2014/main" id="{FB61A694-9316-4668-008C-538019049DD1}"/>
              </a:ext>
            </a:extLst>
          </p:cNvPr>
          <p:cNvSpPr/>
          <p:nvPr/>
        </p:nvSpPr>
        <p:spPr>
          <a:xfrm>
            <a:off x="4589652" y="286290"/>
            <a:ext cx="1650505" cy="1650505"/>
          </a:xfrm>
          <a:custGeom>
            <a:avLst/>
            <a:gdLst/>
            <a:ahLst/>
            <a:cxnLst/>
            <a:rect l="l" t="t" r="r" b="b"/>
            <a:pathLst>
              <a:path w="1650505" h="1650505">
                <a:moveTo>
                  <a:pt x="0" y="0"/>
                </a:moveTo>
                <a:lnTo>
                  <a:pt x="1650505" y="0"/>
                </a:lnTo>
                <a:lnTo>
                  <a:pt x="1650505" y="1650505"/>
                </a:lnTo>
                <a:lnTo>
                  <a:pt x="0" y="1650505"/>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92457515-1FD9-0003-D8DE-B7F17A61DCD6}"/>
              </a:ext>
            </a:extLst>
          </p:cNvPr>
          <p:cNvSpPr/>
          <p:nvPr/>
        </p:nvSpPr>
        <p:spPr>
          <a:xfrm rot="2700000">
            <a:off x="7308966" y="-780952"/>
            <a:ext cx="4462723" cy="4462723"/>
          </a:xfrm>
          <a:custGeom>
            <a:avLst/>
            <a:gdLst/>
            <a:ahLst/>
            <a:cxnLst/>
            <a:rect l="l" t="t" r="r" b="b"/>
            <a:pathLst>
              <a:path w="4462723" h="4462723">
                <a:moveTo>
                  <a:pt x="0" y="0"/>
                </a:moveTo>
                <a:lnTo>
                  <a:pt x="4462723" y="0"/>
                </a:lnTo>
                <a:lnTo>
                  <a:pt x="4462723" y="4462723"/>
                </a:lnTo>
                <a:lnTo>
                  <a:pt x="0" y="446272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TextBox 6">
            <a:extLst>
              <a:ext uri="{FF2B5EF4-FFF2-40B4-BE49-F238E27FC236}">
                <a16:creationId xmlns:a16="http://schemas.microsoft.com/office/drawing/2014/main" id="{94F4EB09-CBD1-552F-4083-2C5DD04BCDC4}"/>
              </a:ext>
            </a:extLst>
          </p:cNvPr>
          <p:cNvSpPr txBox="1"/>
          <p:nvPr/>
        </p:nvSpPr>
        <p:spPr>
          <a:xfrm>
            <a:off x="5484999" y="143415"/>
            <a:ext cx="8110656" cy="1317288"/>
          </a:xfrm>
          <a:prstGeom prst="rect">
            <a:avLst/>
          </a:prstGeom>
        </p:spPr>
        <p:txBody>
          <a:bodyPr lIns="0" tIns="0" rIns="0" bIns="0" rtlCol="0" anchor="t">
            <a:spAutoFit/>
          </a:bodyPr>
          <a:lstStyle/>
          <a:p>
            <a:pPr algn="ctr">
              <a:lnSpc>
                <a:spcPts val="10881"/>
              </a:lnSpc>
              <a:spcBef>
                <a:spcPct val="0"/>
              </a:spcBef>
            </a:pPr>
            <a:r>
              <a:rPr lang="en-US" sz="7772">
                <a:solidFill>
                  <a:srgbClr val="000000"/>
                </a:solidFill>
                <a:latin typeface="Etna Sans Serif"/>
                <a:ea typeface="Etna Sans Serif"/>
                <a:cs typeface="Etna Sans Serif"/>
                <a:sym typeface="Etna Sans Serif"/>
              </a:rPr>
              <a:t>KICK TO TECH</a:t>
            </a:r>
          </a:p>
        </p:txBody>
      </p:sp>
      <p:sp>
        <p:nvSpPr>
          <p:cNvPr id="7" name="TextBox 7">
            <a:extLst>
              <a:ext uri="{FF2B5EF4-FFF2-40B4-BE49-F238E27FC236}">
                <a16:creationId xmlns:a16="http://schemas.microsoft.com/office/drawing/2014/main" id="{47BB57AF-4D0E-81AE-D818-1A573EFDDB40}"/>
              </a:ext>
            </a:extLst>
          </p:cNvPr>
          <p:cNvSpPr txBox="1"/>
          <p:nvPr/>
        </p:nvSpPr>
        <p:spPr>
          <a:xfrm>
            <a:off x="366306" y="9507966"/>
            <a:ext cx="1691093" cy="403957"/>
          </a:xfrm>
          <a:prstGeom prst="rect">
            <a:avLst/>
          </a:prstGeom>
        </p:spPr>
        <p:txBody>
          <a:bodyPr wrap="square" lIns="0" tIns="0" rIns="0" bIns="0" rtlCol="0" anchor="t">
            <a:spAutoFit/>
          </a:bodyPr>
          <a:lstStyle/>
          <a:p>
            <a:pPr algn="ctr">
              <a:lnSpc>
                <a:spcPts val="4177"/>
              </a:lnSpc>
              <a:spcBef>
                <a:spcPct val="0"/>
              </a:spcBef>
            </a:pPr>
            <a:r>
              <a:rPr lang="en-US" sz="2983" dirty="0">
                <a:solidFill>
                  <a:srgbClr val="000000"/>
                </a:solidFill>
                <a:latin typeface="Elika Gorica"/>
                <a:ea typeface="Elika Gorica"/>
                <a:cs typeface="Elika Gorica"/>
                <a:sym typeface="Elika Gorica"/>
              </a:rPr>
              <a:t>Page 8.3</a:t>
            </a:r>
          </a:p>
        </p:txBody>
      </p:sp>
      <p:sp>
        <p:nvSpPr>
          <p:cNvPr id="9" name="TextBox 8">
            <a:extLst>
              <a:ext uri="{FF2B5EF4-FFF2-40B4-BE49-F238E27FC236}">
                <a16:creationId xmlns:a16="http://schemas.microsoft.com/office/drawing/2014/main" id="{20F03F53-A9E5-A137-D046-E508D4610847}"/>
              </a:ext>
            </a:extLst>
          </p:cNvPr>
          <p:cNvSpPr txBox="1"/>
          <p:nvPr/>
        </p:nvSpPr>
        <p:spPr>
          <a:xfrm>
            <a:off x="3567793" y="1603578"/>
            <a:ext cx="11152414" cy="769441"/>
          </a:xfrm>
          <a:prstGeom prst="rect">
            <a:avLst/>
          </a:prstGeom>
          <a:noFill/>
        </p:spPr>
        <p:txBody>
          <a:bodyPr wrap="square">
            <a:spAutoFit/>
          </a:bodyPr>
          <a:lstStyle/>
          <a:p>
            <a:pPr algn="ctr"/>
            <a:r>
              <a:rPr lang="en-IN" sz="4400" dirty="0">
                <a:latin typeface="Cascadia Mono" panose="020B0609020000020004" pitchFamily="49" charset="0"/>
                <a:ea typeface="Cascadia Mono" panose="020B0609020000020004" pitchFamily="49" charset="0"/>
                <a:cs typeface="Cascadia Mono" panose="020B0609020000020004" pitchFamily="49" charset="0"/>
              </a:rPr>
              <a:t>Project Output</a:t>
            </a:r>
          </a:p>
        </p:txBody>
      </p:sp>
      <p:pic>
        <p:nvPicPr>
          <p:cNvPr id="10" name="Picture 9">
            <a:extLst>
              <a:ext uri="{FF2B5EF4-FFF2-40B4-BE49-F238E27FC236}">
                <a16:creationId xmlns:a16="http://schemas.microsoft.com/office/drawing/2014/main" id="{62147AB5-6DF5-CAC9-5AAA-B9A54B5B86D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29693" y="2515894"/>
            <a:ext cx="12192627" cy="7163168"/>
          </a:xfrm>
          <a:prstGeom prst="rect">
            <a:avLst/>
          </a:prstGeom>
        </p:spPr>
      </p:pic>
      <p:sp>
        <p:nvSpPr>
          <p:cNvPr id="12" name="TextBox 11">
            <a:extLst>
              <a:ext uri="{FF2B5EF4-FFF2-40B4-BE49-F238E27FC236}">
                <a16:creationId xmlns:a16="http://schemas.microsoft.com/office/drawing/2014/main" id="{69D195BF-13A9-C21F-BE9E-12FD0053E2EE}"/>
              </a:ext>
            </a:extLst>
          </p:cNvPr>
          <p:cNvSpPr txBox="1"/>
          <p:nvPr/>
        </p:nvSpPr>
        <p:spPr>
          <a:xfrm>
            <a:off x="804726" y="2708135"/>
            <a:ext cx="2319474" cy="1446550"/>
          </a:xfrm>
          <a:prstGeom prst="rect">
            <a:avLst/>
          </a:prstGeom>
          <a:noFill/>
        </p:spPr>
        <p:txBody>
          <a:bodyPr wrap="square">
            <a:spAutoFit/>
          </a:bodyPr>
          <a:lstStyle/>
          <a:p>
            <a:pPr algn="ctr"/>
            <a:r>
              <a:rPr lang="en-IN" sz="4400" dirty="0">
                <a:latin typeface="Cascadia Mono" panose="020B0609020000020004" pitchFamily="49" charset="0"/>
                <a:ea typeface="Cascadia Mono" panose="020B0609020000020004" pitchFamily="49" charset="0"/>
                <a:cs typeface="Cascadia Mono" panose="020B0609020000020004" pitchFamily="49" charset="0"/>
              </a:rPr>
              <a:t>Output Screen </a:t>
            </a:r>
          </a:p>
        </p:txBody>
      </p:sp>
    </p:spTree>
    <p:extLst>
      <p:ext uri="{BB962C8B-B14F-4D97-AF65-F5344CB8AC3E}">
        <p14:creationId xmlns:p14="http://schemas.microsoft.com/office/powerpoint/2010/main" val="3751066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77AD7-D546-5D10-91B0-D347CA3805C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4B841F1-6077-8DA1-819A-17E63D00DB1C}"/>
              </a:ext>
            </a:extLst>
          </p:cNvPr>
          <p:cNvSpPr/>
          <p:nvPr/>
        </p:nvSpPr>
        <p:spPr>
          <a:xfrm rot="1607165">
            <a:off x="16411705" y="6395076"/>
            <a:ext cx="2965121" cy="4727004"/>
          </a:xfrm>
          <a:custGeom>
            <a:avLst/>
            <a:gdLst/>
            <a:ahLst/>
            <a:cxnLst/>
            <a:rect l="l" t="t" r="r" b="b"/>
            <a:pathLst>
              <a:path w="2965121" h="4727004">
                <a:moveTo>
                  <a:pt x="0" y="0"/>
                </a:moveTo>
                <a:lnTo>
                  <a:pt x="2965121" y="0"/>
                </a:lnTo>
                <a:lnTo>
                  <a:pt x="2965121" y="4727004"/>
                </a:lnTo>
                <a:lnTo>
                  <a:pt x="0" y="472700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a:extLst>
              <a:ext uri="{FF2B5EF4-FFF2-40B4-BE49-F238E27FC236}">
                <a16:creationId xmlns:a16="http://schemas.microsoft.com/office/drawing/2014/main" id="{1A801514-71E9-52CB-0258-E2309260F4AD}"/>
              </a:ext>
            </a:extLst>
          </p:cNvPr>
          <p:cNvSpPr/>
          <p:nvPr/>
        </p:nvSpPr>
        <p:spPr>
          <a:xfrm rot="1607165" flipH="1" flipV="1">
            <a:off x="-1103996" y="-788407"/>
            <a:ext cx="2940606" cy="4687923"/>
          </a:xfrm>
          <a:custGeom>
            <a:avLst/>
            <a:gdLst/>
            <a:ahLst/>
            <a:cxnLst/>
            <a:rect l="l" t="t" r="r" b="b"/>
            <a:pathLst>
              <a:path w="2940606" h="4687923">
                <a:moveTo>
                  <a:pt x="2940606" y="4687923"/>
                </a:moveTo>
                <a:lnTo>
                  <a:pt x="0" y="4687923"/>
                </a:lnTo>
                <a:lnTo>
                  <a:pt x="0" y="0"/>
                </a:lnTo>
                <a:lnTo>
                  <a:pt x="2940606" y="0"/>
                </a:lnTo>
                <a:lnTo>
                  <a:pt x="2940606" y="4687923"/>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a:extLst>
              <a:ext uri="{FF2B5EF4-FFF2-40B4-BE49-F238E27FC236}">
                <a16:creationId xmlns:a16="http://schemas.microsoft.com/office/drawing/2014/main" id="{785A3885-BE2A-99E6-8866-E88FD4D46C7D}"/>
              </a:ext>
            </a:extLst>
          </p:cNvPr>
          <p:cNvSpPr/>
          <p:nvPr/>
        </p:nvSpPr>
        <p:spPr>
          <a:xfrm>
            <a:off x="4589652" y="286290"/>
            <a:ext cx="1650505" cy="1650505"/>
          </a:xfrm>
          <a:custGeom>
            <a:avLst/>
            <a:gdLst/>
            <a:ahLst/>
            <a:cxnLst/>
            <a:rect l="l" t="t" r="r" b="b"/>
            <a:pathLst>
              <a:path w="1650505" h="1650505">
                <a:moveTo>
                  <a:pt x="0" y="0"/>
                </a:moveTo>
                <a:lnTo>
                  <a:pt x="1650505" y="0"/>
                </a:lnTo>
                <a:lnTo>
                  <a:pt x="1650505" y="1650505"/>
                </a:lnTo>
                <a:lnTo>
                  <a:pt x="0" y="1650505"/>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225FFF1F-D76D-88BC-BE11-63D88CC2B0F5}"/>
              </a:ext>
            </a:extLst>
          </p:cNvPr>
          <p:cNvSpPr/>
          <p:nvPr/>
        </p:nvSpPr>
        <p:spPr>
          <a:xfrm rot="2700000">
            <a:off x="7308966" y="-780952"/>
            <a:ext cx="4462723" cy="4462723"/>
          </a:xfrm>
          <a:custGeom>
            <a:avLst/>
            <a:gdLst/>
            <a:ahLst/>
            <a:cxnLst/>
            <a:rect l="l" t="t" r="r" b="b"/>
            <a:pathLst>
              <a:path w="4462723" h="4462723">
                <a:moveTo>
                  <a:pt x="0" y="0"/>
                </a:moveTo>
                <a:lnTo>
                  <a:pt x="4462723" y="0"/>
                </a:lnTo>
                <a:lnTo>
                  <a:pt x="4462723" y="4462723"/>
                </a:lnTo>
                <a:lnTo>
                  <a:pt x="0" y="446272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TextBox 6">
            <a:extLst>
              <a:ext uri="{FF2B5EF4-FFF2-40B4-BE49-F238E27FC236}">
                <a16:creationId xmlns:a16="http://schemas.microsoft.com/office/drawing/2014/main" id="{4CF9128D-AE0F-C595-BB83-E4F84E4EC923}"/>
              </a:ext>
            </a:extLst>
          </p:cNvPr>
          <p:cNvSpPr txBox="1"/>
          <p:nvPr/>
        </p:nvSpPr>
        <p:spPr>
          <a:xfrm>
            <a:off x="5484999" y="143415"/>
            <a:ext cx="8110656" cy="1317288"/>
          </a:xfrm>
          <a:prstGeom prst="rect">
            <a:avLst/>
          </a:prstGeom>
        </p:spPr>
        <p:txBody>
          <a:bodyPr lIns="0" tIns="0" rIns="0" bIns="0" rtlCol="0" anchor="t">
            <a:spAutoFit/>
          </a:bodyPr>
          <a:lstStyle/>
          <a:p>
            <a:pPr algn="ctr">
              <a:lnSpc>
                <a:spcPts val="10881"/>
              </a:lnSpc>
              <a:spcBef>
                <a:spcPct val="0"/>
              </a:spcBef>
            </a:pPr>
            <a:r>
              <a:rPr lang="en-US" sz="7772">
                <a:solidFill>
                  <a:srgbClr val="000000"/>
                </a:solidFill>
                <a:latin typeface="Etna Sans Serif"/>
                <a:ea typeface="Etna Sans Serif"/>
                <a:cs typeface="Etna Sans Serif"/>
                <a:sym typeface="Etna Sans Serif"/>
              </a:rPr>
              <a:t>KICK TO TECH</a:t>
            </a:r>
          </a:p>
        </p:txBody>
      </p:sp>
      <p:sp>
        <p:nvSpPr>
          <p:cNvPr id="7" name="TextBox 7">
            <a:extLst>
              <a:ext uri="{FF2B5EF4-FFF2-40B4-BE49-F238E27FC236}">
                <a16:creationId xmlns:a16="http://schemas.microsoft.com/office/drawing/2014/main" id="{648FBF42-CD7C-5465-8F6D-80CA2A8714AB}"/>
              </a:ext>
            </a:extLst>
          </p:cNvPr>
          <p:cNvSpPr txBox="1"/>
          <p:nvPr/>
        </p:nvSpPr>
        <p:spPr>
          <a:xfrm>
            <a:off x="366306" y="9507966"/>
            <a:ext cx="1386293" cy="403957"/>
          </a:xfrm>
          <a:prstGeom prst="rect">
            <a:avLst/>
          </a:prstGeom>
        </p:spPr>
        <p:txBody>
          <a:bodyPr wrap="square" lIns="0" tIns="0" rIns="0" bIns="0" rtlCol="0" anchor="t">
            <a:spAutoFit/>
          </a:bodyPr>
          <a:lstStyle/>
          <a:p>
            <a:pPr algn="ctr">
              <a:lnSpc>
                <a:spcPts val="4177"/>
              </a:lnSpc>
              <a:spcBef>
                <a:spcPct val="0"/>
              </a:spcBef>
            </a:pPr>
            <a:r>
              <a:rPr lang="en-US" sz="2983" dirty="0">
                <a:solidFill>
                  <a:srgbClr val="000000"/>
                </a:solidFill>
                <a:latin typeface="Elika Gorica"/>
                <a:ea typeface="Elika Gorica"/>
                <a:cs typeface="Elika Gorica"/>
                <a:sym typeface="Elika Gorica"/>
              </a:rPr>
              <a:t>Page 9</a:t>
            </a:r>
          </a:p>
        </p:txBody>
      </p:sp>
      <p:sp>
        <p:nvSpPr>
          <p:cNvPr id="9" name="TextBox 8">
            <a:extLst>
              <a:ext uri="{FF2B5EF4-FFF2-40B4-BE49-F238E27FC236}">
                <a16:creationId xmlns:a16="http://schemas.microsoft.com/office/drawing/2014/main" id="{14BD1E8C-13A2-4D85-4040-13CCDEB5F5D7}"/>
              </a:ext>
            </a:extLst>
          </p:cNvPr>
          <p:cNvSpPr txBox="1"/>
          <p:nvPr/>
        </p:nvSpPr>
        <p:spPr>
          <a:xfrm>
            <a:off x="2735171" y="2869160"/>
            <a:ext cx="12967608" cy="5878532"/>
          </a:xfrm>
          <a:prstGeom prst="rect">
            <a:avLst/>
          </a:prstGeom>
          <a:noFill/>
        </p:spPr>
        <p:txBody>
          <a:bodyPr wrap="square">
            <a:spAutoFit/>
          </a:bodyPr>
          <a:lstStyle/>
          <a:p>
            <a:pPr algn="ctr">
              <a:buNone/>
            </a:pPr>
            <a:r>
              <a:rPr lang="en-IN" sz="4400" b="1" dirty="0">
                <a:latin typeface="Cascadia Mono" panose="020B0609020000020004" pitchFamily="49" charset="0"/>
                <a:ea typeface="Cascadia Mono" panose="020B0609020000020004" pitchFamily="49" charset="0"/>
                <a:cs typeface="Cascadia Mono" panose="020B0609020000020004" pitchFamily="49" charset="0"/>
              </a:rPr>
              <a:t>Findings</a:t>
            </a:r>
          </a:p>
          <a:p>
            <a:pPr algn="ctr">
              <a:buFont typeface="Arial" panose="020B0604020202020204" pitchFamily="34" charset="0"/>
              <a:buChar char="•"/>
            </a:pPr>
            <a:r>
              <a:rPr lang="en-IN" sz="3200" dirty="0"/>
              <a:t>Subscribers with more watch hours tend to be more active. </a:t>
            </a:r>
          </a:p>
          <a:p>
            <a:pPr algn="ctr">
              <a:buFont typeface="Arial" panose="020B0604020202020204" pitchFamily="34" charset="0"/>
              <a:buChar char="•"/>
            </a:pPr>
            <a:r>
              <a:rPr lang="en-IN" sz="3200" dirty="0"/>
              <a:t>Subscribers with fewer complaints are more likely to continue. </a:t>
            </a:r>
          </a:p>
          <a:p>
            <a:pPr algn="ctr">
              <a:buFont typeface="Arial" panose="020B0604020202020204" pitchFamily="34" charset="0"/>
              <a:buChar char="•"/>
            </a:pPr>
            <a:r>
              <a:rPr lang="en-IN" sz="3200" dirty="0"/>
              <a:t>Machine Learning can identify possible churn risks. </a:t>
            </a:r>
          </a:p>
          <a:p>
            <a:pPr algn="ctr">
              <a:buFont typeface="Arial" panose="020B0604020202020204" pitchFamily="34" charset="0"/>
              <a:buChar char="•"/>
            </a:pPr>
            <a:r>
              <a:rPr lang="en-IN" sz="3200" dirty="0"/>
              <a:t>K-Means successfully groups subscribers based on activity. </a:t>
            </a:r>
          </a:p>
          <a:p>
            <a:pPr algn="ctr">
              <a:buNone/>
            </a:pPr>
            <a:r>
              <a:rPr lang="en-IN" sz="4400" b="1" dirty="0">
                <a:latin typeface="Cascadia Mono" panose="020B0609020000020004" pitchFamily="49" charset="0"/>
                <a:ea typeface="Cascadia Mono" panose="020B0609020000020004" pitchFamily="49" charset="0"/>
                <a:cs typeface="Cascadia Mono" panose="020B0609020000020004" pitchFamily="49" charset="0"/>
              </a:rPr>
              <a:t>Conclusion</a:t>
            </a:r>
          </a:p>
          <a:p>
            <a:pPr algn="ctr">
              <a:buNone/>
            </a:pPr>
            <a:r>
              <a:rPr lang="en-IN" sz="3200" dirty="0"/>
              <a:t>This project successfully uses:</a:t>
            </a:r>
          </a:p>
          <a:p>
            <a:pPr algn="ctr">
              <a:buFont typeface="Arial" panose="020B0604020202020204" pitchFamily="34" charset="0"/>
              <a:buChar char="•"/>
            </a:pPr>
            <a:r>
              <a:rPr lang="en-IN" sz="3200" dirty="0"/>
              <a:t>Logistic Regression for churn prediction </a:t>
            </a:r>
          </a:p>
          <a:p>
            <a:pPr algn="ctr">
              <a:buFont typeface="Arial" panose="020B0604020202020204" pitchFamily="34" charset="0"/>
              <a:buChar char="•"/>
            </a:pPr>
            <a:r>
              <a:rPr lang="en-IN" sz="3200" dirty="0"/>
              <a:t>K-Means Clustering for user grouping </a:t>
            </a:r>
          </a:p>
          <a:p>
            <a:pPr algn="ctr">
              <a:buNone/>
            </a:pPr>
            <a:r>
              <a:rPr lang="en-IN" sz="3200" dirty="0"/>
              <a:t>The project demonstrates how Machine Learning can help </a:t>
            </a:r>
            <a:r>
              <a:rPr lang="en-IN" sz="3200" dirty="0" err="1"/>
              <a:t>analyze</a:t>
            </a:r>
            <a:r>
              <a:rPr lang="en-IN" sz="3200" dirty="0"/>
              <a:t> subscriber </a:t>
            </a:r>
            <a:r>
              <a:rPr lang="en-IN" sz="3200" dirty="0" err="1"/>
              <a:t>behavior</a:t>
            </a:r>
            <a:r>
              <a:rPr lang="en-IN" sz="3200" dirty="0"/>
              <a:t> and support customer retention.</a:t>
            </a:r>
          </a:p>
        </p:txBody>
      </p:sp>
    </p:spTree>
    <p:extLst>
      <p:ext uri="{BB962C8B-B14F-4D97-AF65-F5344CB8AC3E}">
        <p14:creationId xmlns:p14="http://schemas.microsoft.com/office/powerpoint/2010/main" val="41351957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A3533-D0FD-1F7F-42C2-16955C6650A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D8F580B-968B-0059-ADD7-E884A22DAB95}"/>
              </a:ext>
            </a:extLst>
          </p:cNvPr>
          <p:cNvSpPr/>
          <p:nvPr/>
        </p:nvSpPr>
        <p:spPr>
          <a:xfrm rot="1607165">
            <a:off x="16411705" y="6395076"/>
            <a:ext cx="2965121" cy="4727004"/>
          </a:xfrm>
          <a:custGeom>
            <a:avLst/>
            <a:gdLst/>
            <a:ahLst/>
            <a:cxnLst/>
            <a:rect l="l" t="t" r="r" b="b"/>
            <a:pathLst>
              <a:path w="2965121" h="4727004">
                <a:moveTo>
                  <a:pt x="0" y="0"/>
                </a:moveTo>
                <a:lnTo>
                  <a:pt x="2965121" y="0"/>
                </a:lnTo>
                <a:lnTo>
                  <a:pt x="2965121" y="4727004"/>
                </a:lnTo>
                <a:lnTo>
                  <a:pt x="0" y="472700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a:extLst>
              <a:ext uri="{FF2B5EF4-FFF2-40B4-BE49-F238E27FC236}">
                <a16:creationId xmlns:a16="http://schemas.microsoft.com/office/drawing/2014/main" id="{D80BB9F0-66AA-20A0-973E-B11AC382F536}"/>
              </a:ext>
            </a:extLst>
          </p:cNvPr>
          <p:cNvSpPr/>
          <p:nvPr/>
        </p:nvSpPr>
        <p:spPr>
          <a:xfrm rot="1607165" flipH="1" flipV="1">
            <a:off x="-1103996" y="-788407"/>
            <a:ext cx="2940606" cy="4687923"/>
          </a:xfrm>
          <a:custGeom>
            <a:avLst/>
            <a:gdLst/>
            <a:ahLst/>
            <a:cxnLst/>
            <a:rect l="l" t="t" r="r" b="b"/>
            <a:pathLst>
              <a:path w="2940606" h="4687923">
                <a:moveTo>
                  <a:pt x="2940606" y="4687923"/>
                </a:moveTo>
                <a:lnTo>
                  <a:pt x="0" y="4687923"/>
                </a:lnTo>
                <a:lnTo>
                  <a:pt x="0" y="0"/>
                </a:lnTo>
                <a:lnTo>
                  <a:pt x="2940606" y="0"/>
                </a:lnTo>
                <a:lnTo>
                  <a:pt x="2940606" y="4687923"/>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a:extLst>
              <a:ext uri="{FF2B5EF4-FFF2-40B4-BE49-F238E27FC236}">
                <a16:creationId xmlns:a16="http://schemas.microsoft.com/office/drawing/2014/main" id="{A824D20E-609A-870C-2EC8-A7C0C92F2E68}"/>
              </a:ext>
            </a:extLst>
          </p:cNvPr>
          <p:cNvSpPr/>
          <p:nvPr/>
        </p:nvSpPr>
        <p:spPr>
          <a:xfrm>
            <a:off x="4589652" y="286290"/>
            <a:ext cx="1650505" cy="1650505"/>
          </a:xfrm>
          <a:custGeom>
            <a:avLst/>
            <a:gdLst/>
            <a:ahLst/>
            <a:cxnLst/>
            <a:rect l="l" t="t" r="r" b="b"/>
            <a:pathLst>
              <a:path w="1650505" h="1650505">
                <a:moveTo>
                  <a:pt x="0" y="0"/>
                </a:moveTo>
                <a:lnTo>
                  <a:pt x="1650505" y="0"/>
                </a:lnTo>
                <a:lnTo>
                  <a:pt x="1650505" y="1650505"/>
                </a:lnTo>
                <a:lnTo>
                  <a:pt x="0" y="1650505"/>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80F7669D-5468-E0E7-F3AC-00F54FBA21C8}"/>
              </a:ext>
            </a:extLst>
          </p:cNvPr>
          <p:cNvSpPr/>
          <p:nvPr/>
        </p:nvSpPr>
        <p:spPr>
          <a:xfrm rot="2700000">
            <a:off x="7308966" y="-780952"/>
            <a:ext cx="4462723" cy="4462723"/>
          </a:xfrm>
          <a:custGeom>
            <a:avLst/>
            <a:gdLst/>
            <a:ahLst/>
            <a:cxnLst/>
            <a:rect l="l" t="t" r="r" b="b"/>
            <a:pathLst>
              <a:path w="4462723" h="4462723">
                <a:moveTo>
                  <a:pt x="0" y="0"/>
                </a:moveTo>
                <a:lnTo>
                  <a:pt x="4462723" y="0"/>
                </a:lnTo>
                <a:lnTo>
                  <a:pt x="4462723" y="4462723"/>
                </a:lnTo>
                <a:lnTo>
                  <a:pt x="0" y="446272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TextBox 6">
            <a:extLst>
              <a:ext uri="{FF2B5EF4-FFF2-40B4-BE49-F238E27FC236}">
                <a16:creationId xmlns:a16="http://schemas.microsoft.com/office/drawing/2014/main" id="{446BA2E1-2E46-64EA-1B63-60F4DFC4CC27}"/>
              </a:ext>
            </a:extLst>
          </p:cNvPr>
          <p:cNvSpPr txBox="1"/>
          <p:nvPr/>
        </p:nvSpPr>
        <p:spPr>
          <a:xfrm>
            <a:off x="5484999" y="143415"/>
            <a:ext cx="8110656" cy="1317288"/>
          </a:xfrm>
          <a:prstGeom prst="rect">
            <a:avLst/>
          </a:prstGeom>
        </p:spPr>
        <p:txBody>
          <a:bodyPr lIns="0" tIns="0" rIns="0" bIns="0" rtlCol="0" anchor="t">
            <a:spAutoFit/>
          </a:bodyPr>
          <a:lstStyle/>
          <a:p>
            <a:pPr algn="ctr">
              <a:lnSpc>
                <a:spcPts val="10881"/>
              </a:lnSpc>
              <a:spcBef>
                <a:spcPct val="0"/>
              </a:spcBef>
            </a:pPr>
            <a:r>
              <a:rPr lang="en-US" sz="7772">
                <a:solidFill>
                  <a:srgbClr val="000000"/>
                </a:solidFill>
                <a:latin typeface="Etna Sans Serif"/>
                <a:ea typeface="Etna Sans Serif"/>
                <a:cs typeface="Etna Sans Serif"/>
                <a:sym typeface="Etna Sans Serif"/>
              </a:rPr>
              <a:t>KICK TO TECH</a:t>
            </a:r>
          </a:p>
        </p:txBody>
      </p:sp>
      <p:sp>
        <p:nvSpPr>
          <p:cNvPr id="7" name="TextBox 7">
            <a:extLst>
              <a:ext uri="{FF2B5EF4-FFF2-40B4-BE49-F238E27FC236}">
                <a16:creationId xmlns:a16="http://schemas.microsoft.com/office/drawing/2014/main" id="{F2087EEA-901C-5BFD-9F07-B53B5461A130}"/>
              </a:ext>
            </a:extLst>
          </p:cNvPr>
          <p:cNvSpPr txBox="1"/>
          <p:nvPr/>
        </p:nvSpPr>
        <p:spPr>
          <a:xfrm>
            <a:off x="366306" y="9507966"/>
            <a:ext cx="1462493" cy="403957"/>
          </a:xfrm>
          <a:prstGeom prst="rect">
            <a:avLst/>
          </a:prstGeom>
        </p:spPr>
        <p:txBody>
          <a:bodyPr wrap="square" lIns="0" tIns="0" rIns="0" bIns="0" rtlCol="0" anchor="t">
            <a:spAutoFit/>
          </a:bodyPr>
          <a:lstStyle/>
          <a:p>
            <a:pPr algn="ctr">
              <a:lnSpc>
                <a:spcPts val="4177"/>
              </a:lnSpc>
              <a:spcBef>
                <a:spcPct val="0"/>
              </a:spcBef>
            </a:pPr>
            <a:r>
              <a:rPr lang="en-US" sz="2983" dirty="0">
                <a:solidFill>
                  <a:srgbClr val="000000"/>
                </a:solidFill>
                <a:latin typeface="Elika Gorica"/>
                <a:ea typeface="Elika Gorica"/>
                <a:cs typeface="Elika Gorica"/>
                <a:sym typeface="Elika Gorica"/>
              </a:rPr>
              <a:t>Page 10</a:t>
            </a:r>
          </a:p>
        </p:txBody>
      </p:sp>
      <p:sp>
        <p:nvSpPr>
          <p:cNvPr id="9" name="TextBox 8">
            <a:extLst>
              <a:ext uri="{FF2B5EF4-FFF2-40B4-BE49-F238E27FC236}">
                <a16:creationId xmlns:a16="http://schemas.microsoft.com/office/drawing/2014/main" id="{DB81BAAD-B936-3087-F848-C1D0543D09D0}"/>
              </a:ext>
            </a:extLst>
          </p:cNvPr>
          <p:cNvSpPr txBox="1"/>
          <p:nvPr/>
        </p:nvSpPr>
        <p:spPr>
          <a:xfrm>
            <a:off x="3352800" y="4681183"/>
            <a:ext cx="11152414" cy="1015663"/>
          </a:xfrm>
          <a:prstGeom prst="rect">
            <a:avLst/>
          </a:prstGeom>
          <a:noFill/>
        </p:spPr>
        <p:txBody>
          <a:bodyPr wrap="square">
            <a:spAutoFit/>
          </a:bodyPr>
          <a:lstStyle/>
          <a:p>
            <a:pPr algn="ctr"/>
            <a:r>
              <a:rPr lang="en-IN" sz="6000" dirty="0">
                <a:latin typeface="Cascadia Mono" panose="020B0609020000020004" pitchFamily="49" charset="0"/>
                <a:ea typeface="Cascadia Mono" panose="020B0609020000020004" pitchFamily="49" charset="0"/>
                <a:cs typeface="Cascadia Mono" panose="020B0609020000020004" pitchFamily="49" charset="0"/>
              </a:rPr>
              <a:t>Thank You</a:t>
            </a:r>
          </a:p>
        </p:txBody>
      </p:sp>
    </p:spTree>
    <p:extLst>
      <p:ext uri="{BB962C8B-B14F-4D97-AF65-F5344CB8AC3E}">
        <p14:creationId xmlns:p14="http://schemas.microsoft.com/office/powerpoint/2010/main" val="5362595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93</TotalTime>
  <Words>523</Words>
  <Application>Microsoft Office PowerPoint</Application>
  <PresentationFormat>Custom</PresentationFormat>
  <Paragraphs>127</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Elika Gorica</vt:lpstr>
      <vt:lpstr>Cascadia Mono</vt:lpstr>
      <vt:lpstr>Aptos</vt:lpstr>
      <vt:lpstr>Etna Sans Serif</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KICK TO TECH</dc:title>
  <dc:creator>Namrata Choudhari</dc:creator>
  <cp:lastModifiedBy>Namrata Choudhari</cp:lastModifiedBy>
  <cp:revision>2</cp:revision>
  <dcterms:created xsi:type="dcterms:W3CDTF">2006-08-16T00:00:00Z</dcterms:created>
  <dcterms:modified xsi:type="dcterms:W3CDTF">2026-06-19T20:53:13Z</dcterms:modified>
  <dc:identifier>DAHNCVOZzlA</dc:identifier>
</cp:coreProperties>
</file>